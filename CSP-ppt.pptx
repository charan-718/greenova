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0" i="0">
                <a:solidFill>
                  <a:srgbClr val="1736B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rgbClr val="1736B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82389" y="1815312"/>
            <a:ext cx="352424" cy="847168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rgbClr val="1736B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rgbClr val="1736B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9283" y="246868"/>
            <a:ext cx="17809432" cy="22381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0" i="0">
                <a:solidFill>
                  <a:srgbClr val="1736B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0452" y="2499019"/>
            <a:ext cx="15269844" cy="6416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681866"/>
            <a:ext cx="6339205" cy="1605280"/>
          </a:xfrm>
          <a:custGeom>
            <a:avLst/>
            <a:gdLst/>
            <a:ahLst/>
            <a:cxnLst/>
            <a:rect l="l" t="t" r="r" b="b"/>
            <a:pathLst>
              <a:path w="6339205" h="1605279">
                <a:moveTo>
                  <a:pt x="6339025" y="1605147"/>
                </a:moveTo>
                <a:lnTo>
                  <a:pt x="0" y="1605147"/>
                </a:lnTo>
                <a:lnTo>
                  <a:pt x="0" y="0"/>
                </a:lnTo>
                <a:lnTo>
                  <a:pt x="5413861" y="0"/>
                </a:lnTo>
                <a:lnTo>
                  <a:pt x="6339025" y="1602459"/>
                </a:lnTo>
                <a:lnTo>
                  <a:pt x="6339025" y="1605147"/>
                </a:lnTo>
                <a:close/>
              </a:path>
            </a:pathLst>
          </a:custGeom>
          <a:solidFill>
            <a:srgbClr val="A066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8652" y="5284345"/>
            <a:ext cx="10211435" cy="28575"/>
          </a:xfrm>
          <a:custGeom>
            <a:avLst/>
            <a:gdLst/>
            <a:ahLst/>
            <a:cxnLst/>
            <a:rect l="l" t="t" r="r" b="b"/>
            <a:pathLst>
              <a:path w="10211435" h="28575">
                <a:moveTo>
                  <a:pt x="10204947" y="28574"/>
                </a:moveTo>
                <a:lnTo>
                  <a:pt x="10197074" y="28574"/>
                </a:lnTo>
                <a:lnTo>
                  <a:pt x="10197202" y="28574"/>
                </a:lnTo>
                <a:lnTo>
                  <a:pt x="6350" y="28574"/>
                </a:lnTo>
                <a:lnTo>
                  <a:pt x="0" y="22225"/>
                </a:lnTo>
                <a:lnTo>
                  <a:pt x="0" y="6223"/>
                </a:lnTo>
                <a:lnTo>
                  <a:pt x="6350" y="0"/>
                </a:lnTo>
                <a:lnTo>
                  <a:pt x="10204947" y="0"/>
                </a:lnTo>
                <a:lnTo>
                  <a:pt x="10211422" y="6350"/>
                </a:lnTo>
                <a:lnTo>
                  <a:pt x="10211171" y="22225"/>
                </a:lnTo>
                <a:lnTo>
                  <a:pt x="10204947" y="28574"/>
                </a:lnTo>
                <a:close/>
              </a:path>
            </a:pathLst>
          </a:custGeom>
          <a:solidFill>
            <a:srgbClr val="86C7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1509872" y="-3"/>
            <a:ext cx="6778625" cy="10287000"/>
            <a:chOff x="11509872" y="-3"/>
            <a:chExt cx="6778625" cy="10287000"/>
          </a:xfrm>
        </p:grpSpPr>
        <p:sp>
          <p:nvSpPr>
            <p:cNvPr id="5" name="object 5"/>
            <p:cNvSpPr/>
            <p:nvPr/>
          </p:nvSpPr>
          <p:spPr>
            <a:xfrm>
              <a:off x="11509872" y="7755757"/>
              <a:ext cx="3089910" cy="2531745"/>
            </a:xfrm>
            <a:custGeom>
              <a:avLst/>
              <a:gdLst/>
              <a:ahLst/>
              <a:cxnLst/>
              <a:rect l="l" t="t" r="r" b="b"/>
              <a:pathLst>
                <a:path w="3089909" h="2531745">
                  <a:moveTo>
                    <a:pt x="2400171" y="2531235"/>
                  </a:moveTo>
                  <a:lnTo>
                    <a:pt x="689609" y="2531235"/>
                  </a:lnTo>
                  <a:lnTo>
                    <a:pt x="0" y="1339214"/>
                  </a:lnTo>
                  <a:lnTo>
                    <a:pt x="773176" y="0"/>
                  </a:lnTo>
                  <a:lnTo>
                    <a:pt x="2316606" y="0"/>
                  </a:lnTo>
                  <a:lnTo>
                    <a:pt x="3089655" y="1339214"/>
                  </a:lnTo>
                  <a:lnTo>
                    <a:pt x="2400171" y="2531235"/>
                  </a:lnTo>
                  <a:close/>
                </a:path>
              </a:pathLst>
            </a:custGeom>
            <a:solidFill>
              <a:srgbClr val="86C7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053303" y="5137525"/>
              <a:ext cx="4633595" cy="5149850"/>
            </a:xfrm>
            <a:custGeom>
              <a:avLst/>
              <a:gdLst/>
              <a:ahLst/>
              <a:cxnLst/>
              <a:rect l="l" t="t" r="r" b="b"/>
              <a:pathLst>
                <a:path w="4633594" h="5149850">
                  <a:moveTo>
                    <a:pt x="3946141" y="5149473"/>
                  </a:moveTo>
                  <a:lnTo>
                    <a:pt x="2233167" y="5149473"/>
                  </a:lnTo>
                  <a:lnTo>
                    <a:pt x="1058010" y="3112641"/>
                  </a:lnTo>
                  <a:lnTo>
                    <a:pt x="0" y="1281683"/>
                  </a:lnTo>
                  <a:lnTo>
                    <a:pt x="741552" y="0"/>
                  </a:lnTo>
                  <a:lnTo>
                    <a:pt x="2348101" y="0"/>
                  </a:lnTo>
                  <a:lnTo>
                    <a:pt x="2822065" y="819149"/>
                  </a:lnTo>
                  <a:lnTo>
                    <a:pt x="2822466" y="819149"/>
                  </a:lnTo>
                  <a:lnTo>
                    <a:pt x="3861814" y="2618231"/>
                  </a:lnTo>
                  <a:lnTo>
                    <a:pt x="3862957" y="2618231"/>
                  </a:lnTo>
                  <a:lnTo>
                    <a:pt x="4147437" y="3112514"/>
                  </a:lnTo>
                  <a:lnTo>
                    <a:pt x="4147183" y="3112641"/>
                  </a:lnTo>
                  <a:lnTo>
                    <a:pt x="4633084" y="3957445"/>
                  </a:lnTo>
                  <a:lnTo>
                    <a:pt x="3946141" y="5149473"/>
                  </a:lnTo>
                  <a:close/>
                </a:path>
                <a:path w="4633594" h="5149850">
                  <a:moveTo>
                    <a:pt x="2822466" y="819149"/>
                  </a:moveTo>
                  <a:lnTo>
                    <a:pt x="2822065" y="819149"/>
                  </a:lnTo>
                  <a:lnTo>
                    <a:pt x="2822319" y="818896"/>
                  </a:lnTo>
                  <a:lnTo>
                    <a:pt x="2822466" y="819149"/>
                  </a:lnTo>
                  <a:close/>
                </a:path>
              </a:pathLst>
            </a:custGeom>
            <a:solidFill>
              <a:srgbClr val="A066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142957" y="5137525"/>
              <a:ext cx="2145665" cy="4997450"/>
            </a:xfrm>
            <a:custGeom>
              <a:avLst/>
              <a:gdLst/>
              <a:ahLst/>
              <a:cxnLst/>
              <a:rect l="l" t="t" r="r" b="b"/>
              <a:pathLst>
                <a:path w="2145665" h="4997450">
                  <a:moveTo>
                    <a:pt x="2145042" y="4997448"/>
                  </a:moveTo>
                  <a:lnTo>
                    <a:pt x="1543304" y="3957445"/>
                  </a:lnTo>
                  <a:lnTo>
                    <a:pt x="1545716" y="3953508"/>
                  </a:lnTo>
                  <a:lnTo>
                    <a:pt x="773684" y="2618103"/>
                  </a:lnTo>
                  <a:lnTo>
                    <a:pt x="773176" y="2618103"/>
                  </a:lnTo>
                  <a:lnTo>
                    <a:pt x="0" y="1281683"/>
                  </a:lnTo>
                  <a:lnTo>
                    <a:pt x="741553" y="0"/>
                  </a:lnTo>
                  <a:lnTo>
                    <a:pt x="2145042" y="0"/>
                  </a:lnTo>
                  <a:lnTo>
                    <a:pt x="2145042" y="4997448"/>
                  </a:lnTo>
                  <a:close/>
                </a:path>
              </a:pathLst>
            </a:custGeom>
            <a:solidFill>
              <a:srgbClr val="1736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023838" y="2473575"/>
              <a:ext cx="3089910" cy="2675890"/>
            </a:xfrm>
            <a:custGeom>
              <a:avLst/>
              <a:gdLst/>
              <a:ahLst/>
              <a:cxnLst/>
              <a:rect l="l" t="t" r="r" b="b"/>
              <a:pathLst>
                <a:path w="3089909" h="2675890">
                  <a:moveTo>
                    <a:pt x="2316606" y="2675762"/>
                  </a:moveTo>
                  <a:lnTo>
                    <a:pt x="773176" y="2675762"/>
                  </a:lnTo>
                  <a:lnTo>
                    <a:pt x="0" y="1339341"/>
                  </a:lnTo>
                  <a:lnTo>
                    <a:pt x="773176" y="0"/>
                  </a:lnTo>
                  <a:lnTo>
                    <a:pt x="2316606" y="0"/>
                  </a:lnTo>
                  <a:lnTo>
                    <a:pt x="3089655" y="1339341"/>
                  </a:lnTo>
                  <a:lnTo>
                    <a:pt x="2316606" y="2675762"/>
                  </a:lnTo>
                  <a:close/>
                </a:path>
              </a:pathLst>
            </a:custGeom>
            <a:solidFill>
              <a:srgbClr val="86C7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567269" y="-3"/>
              <a:ext cx="3721100" cy="5149850"/>
            </a:xfrm>
            <a:custGeom>
              <a:avLst/>
              <a:gdLst/>
              <a:ahLst/>
              <a:cxnLst/>
              <a:rect l="l" t="t" r="r" b="b"/>
              <a:pathLst>
                <a:path w="3721100" h="5149850">
                  <a:moveTo>
                    <a:pt x="3720717" y="5149340"/>
                  </a:moveTo>
                  <a:lnTo>
                    <a:pt x="2316479" y="5149340"/>
                  </a:lnTo>
                  <a:lnTo>
                    <a:pt x="0" y="1137157"/>
                  </a:lnTo>
                  <a:lnTo>
                    <a:pt x="657860" y="0"/>
                  </a:lnTo>
                  <a:lnTo>
                    <a:pt x="2431794" y="0"/>
                  </a:lnTo>
                  <a:lnTo>
                    <a:pt x="2822066" y="674623"/>
                  </a:lnTo>
                  <a:lnTo>
                    <a:pt x="2822466" y="674623"/>
                  </a:lnTo>
                  <a:lnTo>
                    <a:pt x="3720717" y="2229484"/>
                  </a:lnTo>
                  <a:lnTo>
                    <a:pt x="3720717" y="5149340"/>
                  </a:lnTo>
                  <a:close/>
                </a:path>
                <a:path w="3721100" h="5149850">
                  <a:moveTo>
                    <a:pt x="2822466" y="674623"/>
                  </a:moveTo>
                  <a:lnTo>
                    <a:pt x="2822066" y="674623"/>
                  </a:lnTo>
                  <a:lnTo>
                    <a:pt x="2822319" y="674369"/>
                  </a:lnTo>
                  <a:lnTo>
                    <a:pt x="2822466" y="674623"/>
                  </a:lnTo>
                  <a:close/>
                </a:path>
              </a:pathLst>
            </a:custGeom>
            <a:solidFill>
              <a:srgbClr val="A066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656924" y="46224"/>
              <a:ext cx="631190" cy="2181860"/>
            </a:xfrm>
            <a:custGeom>
              <a:avLst/>
              <a:gdLst/>
              <a:ahLst/>
              <a:cxnLst/>
              <a:rect l="l" t="t" r="r" b="b"/>
              <a:pathLst>
                <a:path w="631190" h="2181860">
                  <a:moveTo>
                    <a:pt x="631062" y="2181732"/>
                  </a:moveTo>
                  <a:lnTo>
                    <a:pt x="0" y="1090929"/>
                  </a:lnTo>
                  <a:lnTo>
                    <a:pt x="631062" y="0"/>
                  </a:lnTo>
                  <a:lnTo>
                    <a:pt x="631062" y="2181732"/>
                  </a:lnTo>
                  <a:close/>
                </a:path>
              </a:pathLst>
            </a:custGeom>
            <a:solidFill>
              <a:srgbClr val="1736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028700" y="501796"/>
            <a:ext cx="12458700" cy="2790825"/>
            <a:chOff x="1028700" y="501796"/>
            <a:chExt cx="12458700" cy="279082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501796"/>
              <a:ext cx="2695574" cy="27908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42944" y="987552"/>
              <a:ext cx="9744074" cy="99059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953957" y="1035279"/>
            <a:ext cx="9323070" cy="8820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600" b="1" spc="130" dirty="0">
                <a:solidFill>
                  <a:srgbClr val="000000"/>
                </a:solidFill>
                <a:latin typeface="Trebuchet MS"/>
                <a:cs typeface="Trebuchet MS"/>
              </a:rPr>
              <a:t>SRKR</a:t>
            </a:r>
            <a:r>
              <a:rPr sz="5600" b="1" spc="-3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5600" b="1" spc="-75" dirty="0">
                <a:solidFill>
                  <a:srgbClr val="000000"/>
                </a:solidFill>
                <a:latin typeface="Trebuchet MS"/>
                <a:cs typeface="Trebuchet MS"/>
              </a:rPr>
              <a:t>ENGINEERING</a:t>
            </a:r>
            <a:r>
              <a:rPr sz="5600" b="1" spc="-33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5600" b="1" spc="-135" dirty="0">
                <a:solidFill>
                  <a:srgbClr val="000000"/>
                </a:solidFill>
                <a:latin typeface="Trebuchet MS"/>
                <a:cs typeface="Trebuchet MS"/>
              </a:rPr>
              <a:t>COLLEGE</a:t>
            </a:r>
            <a:endParaRPr sz="5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3693" y="5851218"/>
            <a:ext cx="8375015" cy="2159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000" i="1" spc="-70" dirty="0">
                <a:latin typeface="Trebuchet MS"/>
                <a:cs typeface="Trebuchet MS"/>
              </a:rPr>
              <a:t>Community:</a:t>
            </a:r>
            <a:r>
              <a:rPr sz="3000" i="1" spc="-150" dirty="0">
                <a:latin typeface="Trebuchet MS"/>
                <a:cs typeface="Trebuchet MS"/>
              </a:rPr>
              <a:t> </a:t>
            </a:r>
            <a:r>
              <a:rPr sz="3000" i="1" spc="-10" dirty="0">
                <a:latin typeface="Trebuchet MS"/>
                <a:cs typeface="Trebuchet MS"/>
              </a:rPr>
              <a:t>Vempadu</a:t>
            </a:r>
            <a:endParaRPr sz="3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000" i="1" spc="-60" dirty="0">
                <a:latin typeface="Trebuchet MS"/>
                <a:cs typeface="Trebuchet MS"/>
              </a:rPr>
              <a:t>Duration:</a:t>
            </a:r>
            <a:r>
              <a:rPr sz="3000" i="1" spc="-145" dirty="0">
                <a:latin typeface="Trebuchet MS"/>
                <a:cs typeface="Trebuchet MS"/>
              </a:rPr>
              <a:t> </a:t>
            </a:r>
            <a:r>
              <a:rPr sz="3000" i="1" spc="-25" dirty="0">
                <a:latin typeface="Trebuchet MS"/>
                <a:cs typeface="Trebuchet MS"/>
              </a:rPr>
              <a:t>28-</a:t>
            </a:r>
            <a:r>
              <a:rPr sz="3000" i="1" dirty="0">
                <a:latin typeface="Trebuchet MS"/>
                <a:cs typeface="Trebuchet MS"/>
              </a:rPr>
              <a:t>05-</a:t>
            </a:r>
            <a:r>
              <a:rPr sz="3000" i="1" spc="-75" dirty="0">
                <a:latin typeface="Trebuchet MS"/>
                <a:cs typeface="Trebuchet MS"/>
              </a:rPr>
              <a:t>2025</a:t>
            </a:r>
            <a:r>
              <a:rPr sz="3000" i="1" spc="-145" dirty="0">
                <a:latin typeface="Trebuchet MS"/>
                <a:cs typeface="Trebuchet MS"/>
              </a:rPr>
              <a:t> </a:t>
            </a:r>
            <a:r>
              <a:rPr sz="3000" i="1" spc="-20" dirty="0">
                <a:latin typeface="Trebuchet MS"/>
                <a:cs typeface="Trebuchet MS"/>
              </a:rPr>
              <a:t>to</a:t>
            </a:r>
            <a:r>
              <a:rPr sz="3000" i="1" spc="-145" dirty="0">
                <a:latin typeface="Trebuchet MS"/>
                <a:cs typeface="Trebuchet MS"/>
              </a:rPr>
              <a:t> </a:t>
            </a:r>
            <a:r>
              <a:rPr sz="3000" i="1" spc="-40" dirty="0">
                <a:latin typeface="Trebuchet MS"/>
                <a:cs typeface="Trebuchet MS"/>
              </a:rPr>
              <a:t>29-</a:t>
            </a:r>
            <a:r>
              <a:rPr sz="3000" i="1" spc="-50" dirty="0">
                <a:latin typeface="Trebuchet MS"/>
                <a:cs typeface="Trebuchet MS"/>
              </a:rPr>
              <a:t>07-</a:t>
            </a:r>
            <a:r>
              <a:rPr sz="3000" i="1" spc="-20" dirty="0">
                <a:latin typeface="Trebuchet MS"/>
                <a:cs typeface="Trebuchet MS"/>
              </a:rPr>
              <a:t>2025</a:t>
            </a:r>
            <a:endParaRPr sz="3000" dirty="0">
              <a:latin typeface="Trebuchet MS"/>
              <a:cs typeface="Trebuchet MS"/>
            </a:endParaRPr>
          </a:p>
          <a:p>
            <a:pPr marL="12700" marR="5080">
              <a:lnSpc>
                <a:spcPts val="4200"/>
              </a:lnSpc>
              <a:spcBef>
                <a:spcPts val="100"/>
              </a:spcBef>
            </a:pPr>
            <a:r>
              <a:rPr sz="3000" i="1" spc="-110" dirty="0">
                <a:latin typeface="Trebuchet MS"/>
                <a:cs typeface="Trebuchet MS"/>
              </a:rPr>
              <a:t>Mentor:</a:t>
            </a:r>
            <a:r>
              <a:rPr sz="3000" i="1" spc="-114" dirty="0">
                <a:latin typeface="Trebuchet MS"/>
                <a:cs typeface="Trebuchet MS"/>
              </a:rPr>
              <a:t> </a:t>
            </a:r>
            <a:r>
              <a:rPr sz="3000" i="1" spc="-215" dirty="0">
                <a:latin typeface="Trebuchet MS"/>
                <a:cs typeface="Trebuchet MS"/>
              </a:rPr>
              <a:t>Mr.</a:t>
            </a:r>
            <a:r>
              <a:rPr sz="3000" i="1" spc="-70" dirty="0">
                <a:latin typeface="Trebuchet MS"/>
                <a:cs typeface="Trebuchet MS"/>
              </a:rPr>
              <a:t> </a:t>
            </a:r>
            <a:r>
              <a:rPr sz="3000" i="1" spc="-65" dirty="0">
                <a:latin typeface="Trebuchet MS"/>
                <a:cs typeface="Trebuchet MS"/>
              </a:rPr>
              <a:t>B.N.V.Narasimha</a:t>
            </a:r>
            <a:r>
              <a:rPr sz="3000" i="1" spc="-95" dirty="0">
                <a:latin typeface="Trebuchet MS"/>
                <a:cs typeface="Trebuchet MS"/>
              </a:rPr>
              <a:t> </a:t>
            </a:r>
            <a:r>
              <a:rPr sz="3000" i="1" spc="-125" dirty="0">
                <a:latin typeface="Trebuchet MS"/>
                <a:cs typeface="Trebuchet MS"/>
              </a:rPr>
              <a:t>Raju,</a:t>
            </a:r>
            <a:r>
              <a:rPr sz="3000" i="1" spc="-90" dirty="0">
                <a:latin typeface="Trebuchet MS"/>
                <a:cs typeface="Trebuchet MS"/>
              </a:rPr>
              <a:t> </a:t>
            </a:r>
            <a:r>
              <a:rPr sz="3000" i="1" dirty="0">
                <a:latin typeface="Trebuchet MS"/>
                <a:cs typeface="Trebuchet MS"/>
              </a:rPr>
              <a:t>Assistant</a:t>
            </a:r>
            <a:r>
              <a:rPr sz="3000" i="1" spc="-95" dirty="0">
                <a:latin typeface="Trebuchet MS"/>
                <a:cs typeface="Trebuchet MS"/>
              </a:rPr>
              <a:t> </a:t>
            </a:r>
            <a:r>
              <a:rPr sz="3000" i="1" spc="-140" dirty="0">
                <a:latin typeface="Trebuchet MS"/>
                <a:cs typeface="Trebuchet MS"/>
              </a:rPr>
              <a:t>Prof., </a:t>
            </a:r>
            <a:r>
              <a:rPr sz="3000" i="1" spc="-40" dirty="0">
                <a:latin typeface="Trebuchet MS"/>
                <a:cs typeface="Trebuchet MS"/>
              </a:rPr>
              <a:t>Department</a:t>
            </a:r>
            <a:r>
              <a:rPr sz="3000" i="1" spc="-114" dirty="0">
                <a:latin typeface="Trebuchet MS"/>
                <a:cs typeface="Trebuchet MS"/>
              </a:rPr>
              <a:t> </a:t>
            </a:r>
            <a:r>
              <a:rPr sz="3000" i="1" spc="-20" dirty="0">
                <a:latin typeface="Trebuchet MS"/>
                <a:cs typeface="Trebuchet MS"/>
              </a:rPr>
              <a:t>of</a:t>
            </a:r>
            <a:r>
              <a:rPr sz="3000" i="1" spc="-110" dirty="0">
                <a:latin typeface="Trebuchet MS"/>
                <a:cs typeface="Trebuchet MS"/>
              </a:rPr>
              <a:t> </a:t>
            </a:r>
            <a:r>
              <a:rPr sz="3000" i="1" dirty="0">
                <a:latin typeface="Trebuchet MS"/>
                <a:cs typeface="Trebuchet MS"/>
              </a:rPr>
              <a:t>CSE</a:t>
            </a:r>
            <a:r>
              <a:rPr sz="3000" i="1" spc="-110" dirty="0">
                <a:latin typeface="Trebuchet MS"/>
                <a:cs typeface="Trebuchet MS"/>
              </a:rPr>
              <a:t> </a:t>
            </a:r>
            <a:r>
              <a:rPr sz="3000" i="1" dirty="0">
                <a:latin typeface="Trebuchet MS"/>
                <a:cs typeface="Trebuchet MS"/>
              </a:rPr>
              <a:t>in</a:t>
            </a:r>
            <a:r>
              <a:rPr sz="3000" i="1" spc="-110" dirty="0">
                <a:latin typeface="Trebuchet MS"/>
                <a:cs typeface="Trebuchet MS"/>
              </a:rPr>
              <a:t> </a:t>
            </a:r>
            <a:r>
              <a:rPr sz="3000" i="1" dirty="0">
                <a:latin typeface="Trebuchet MS"/>
                <a:cs typeface="Trebuchet MS"/>
              </a:rPr>
              <a:t>SRKR</a:t>
            </a:r>
            <a:r>
              <a:rPr sz="3000" i="1" spc="-110" dirty="0">
                <a:latin typeface="Trebuchet MS"/>
                <a:cs typeface="Trebuchet MS"/>
              </a:rPr>
              <a:t> </a:t>
            </a:r>
            <a:r>
              <a:rPr sz="3000" i="1" dirty="0">
                <a:latin typeface="Trebuchet MS"/>
                <a:cs typeface="Trebuchet MS"/>
              </a:rPr>
              <a:t>Engineering</a:t>
            </a:r>
            <a:r>
              <a:rPr sz="3000" i="1" spc="-110" dirty="0">
                <a:latin typeface="Trebuchet MS"/>
                <a:cs typeface="Trebuchet MS"/>
              </a:rPr>
              <a:t> </a:t>
            </a:r>
            <a:r>
              <a:rPr sz="3000" i="1" spc="-10" dirty="0">
                <a:latin typeface="Trebuchet MS"/>
                <a:cs typeface="Trebuchet MS"/>
              </a:rPr>
              <a:t>College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53956" y="2216139"/>
            <a:ext cx="8466643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rebuchet MS"/>
                <a:cs typeface="Trebuchet MS"/>
              </a:rPr>
              <a:t>COMMUNITY</a:t>
            </a:r>
            <a:r>
              <a:rPr sz="3000" spc="-170" dirty="0">
                <a:latin typeface="Trebuchet MS"/>
                <a:cs typeface="Trebuchet MS"/>
              </a:rPr>
              <a:t> </a:t>
            </a:r>
            <a:r>
              <a:rPr sz="3000" spc="-25" dirty="0">
                <a:latin typeface="Trebuchet MS"/>
                <a:cs typeface="Trebuchet MS"/>
              </a:rPr>
              <a:t>SERVICE</a:t>
            </a:r>
            <a:r>
              <a:rPr lang="en-IN" sz="3000" spc="-125" dirty="0">
                <a:latin typeface="Trebuchet MS"/>
                <a:cs typeface="Trebuchet MS"/>
              </a:rPr>
              <a:t> </a:t>
            </a:r>
            <a:r>
              <a:rPr lang="en-IN" sz="3000" spc="-140" dirty="0">
                <a:latin typeface="Trebuchet MS"/>
                <a:cs typeface="Trebuchet MS"/>
              </a:rPr>
              <a:t>INTERNSHIP</a:t>
            </a:r>
            <a:r>
              <a:rPr sz="3000" spc="-85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PRESENTATION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E3A957-63CD-BDCE-B3CB-97412DB1F608}"/>
              </a:ext>
            </a:extLst>
          </p:cNvPr>
          <p:cNvSpPr txBox="1"/>
          <p:nvPr/>
        </p:nvSpPr>
        <p:spPr>
          <a:xfrm>
            <a:off x="1390357" y="3610325"/>
            <a:ext cx="9897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/>
              <a:t>GreeNova</a:t>
            </a:r>
            <a:endParaRPr lang="en-IN" sz="4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E51152-A04A-1308-EB01-4B8DFA39689D}"/>
              </a:ext>
            </a:extLst>
          </p:cNvPr>
          <p:cNvSpPr txBox="1"/>
          <p:nvPr/>
        </p:nvSpPr>
        <p:spPr>
          <a:xfrm>
            <a:off x="1390357" y="4654424"/>
            <a:ext cx="9877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Community-driven solutions for a sustainable lifestyle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857" rIns="0" bIns="0" rtlCol="0">
            <a:spAutoFit/>
          </a:bodyPr>
          <a:lstStyle/>
          <a:p>
            <a:pPr marL="1089025">
              <a:lnSpc>
                <a:spcPct val="100000"/>
              </a:lnSpc>
              <a:spcBef>
                <a:spcPts val="114"/>
              </a:spcBef>
            </a:pPr>
            <a:r>
              <a:rPr sz="11850" b="1" spc="-185" dirty="0">
                <a:latin typeface="Trebuchet MS"/>
                <a:cs typeface="Trebuchet MS"/>
              </a:rPr>
              <a:t>Introduction:</a:t>
            </a:r>
            <a:endParaRPr sz="1185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6526" y="3283869"/>
            <a:ext cx="133350" cy="1333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36801" rIns="0" bIns="0" rtlCol="0">
            <a:spAutoFit/>
          </a:bodyPr>
          <a:lstStyle/>
          <a:p>
            <a:pPr marL="659130" marR="355600">
              <a:lnSpc>
                <a:spcPct val="116199"/>
              </a:lnSpc>
              <a:spcBef>
                <a:spcPts val="95"/>
              </a:spcBef>
            </a:pPr>
            <a:r>
              <a:rPr sz="3550" dirty="0">
                <a:latin typeface="Times New Roman"/>
                <a:cs typeface="Times New Roman"/>
              </a:rPr>
              <a:t>The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main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purpose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of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our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Community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Service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Internship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was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to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understand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spc="-25" dirty="0">
                <a:latin typeface="Times New Roman"/>
                <a:cs typeface="Times New Roman"/>
              </a:rPr>
              <a:t>the </a:t>
            </a:r>
            <a:r>
              <a:rPr sz="3550" dirty="0">
                <a:latin typeface="Times New Roman"/>
                <a:cs typeface="Times New Roman"/>
              </a:rPr>
              <a:t>waste</a:t>
            </a:r>
            <a:r>
              <a:rPr sz="3550" spc="-3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management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problems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in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our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locality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and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find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practical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solutions.</a:t>
            </a:r>
            <a:endParaRPr sz="3550" dirty="0">
              <a:latin typeface="Times New Roman"/>
              <a:cs typeface="Times New Roman"/>
            </a:endParaRPr>
          </a:p>
          <a:p>
            <a:pPr marL="659130" marR="708660">
              <a:lnSpc>
                <a:spcPct val="116199"/>
              </a:lnSpc>
            </a:pPr>
            <a:r>
              <a:rPr sz="3550" dirty="0">
                <a:latin typeface="Times New Roman"/>
                <a:cs typeface="Times New Roman"/>
              </a:rPr>
              <a:t>Our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project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focused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on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identifying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why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people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throw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waste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outside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and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spc="-25" dirty="0">
                <a:latin typeface="Times New Roman"/>
                <a:cs typeface="Times New Roman"/>
              </a:rPr>
              <a:t>how </a:t>
            </a:r>
            <a:r>
              <a:rPr sz="3550" dirty="0">
                <a:latin typeface="Times New Roman"/>
                <a:cs typeface="Times New Roman"/>
              </a:rPr>
              <a:t>this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habit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leads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to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issues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like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mosquito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breeding,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drainage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blockage,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spc="-25" dirty="0">
                <a:latin typeface="Times New Roman"/>
                <a:cs typeface="Times New Roman"/>
              </a:rPr>
              <a:t>and </a:t>
            </a:r>
            <a:r>
              <a:rPr sz="3550" dirty="0">
                <a:latin typeface="Times New Roman"/>
                <a:cs typeface="Times New Roman"/>
              </a:rPr>
              <a:t>unhygienic</a:t>
            </a:r>
            <a:r>
              <a:rPr sz="3550" spc="-40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surroundings.</a:t>
            </a:r>
            <a:endParaRPr sz="3550" dirty="0">
              <a:latin typeface="Times New Roman"/>
              <a:cs typeface="Times New Roman"/>
            </a:endParaRPr>
          </a:p>
          <a:p>
            <a:pPr marL="659130" marR="5080">
              <a:lnSpc>
                <a:spcPct val="116199"/>
              </a:lnSpc>
            </a:pPr>
            <a:r>
              <a:rPr sz="3550" dirty="0">
                <a:latin typeface="Times New Roman"/>
                <a:cs typeface="Times New Roman"/>
              </a:rPr>
              <a:t>Through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this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project,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we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aimed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to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create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awareness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about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proper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waste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disposal, </a:t>
            </a:r>
            <a:r>
              <a:rPr sz="3550" dirty="0">
                <a:latin typeface="Times New Roman"/>
                <a:cs typeface="Times New Roman"/>
              </a:rPr>
              <a:t>encourage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the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use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of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dustbins,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and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promote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cleanliness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among</a:t>
            </a:r>
            <a:r>
              <a:rPr sz="3550" spc="-15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residents.</a:t>
            </a:r>
            <a:endParaRPr sz="3550" dirty="0">
              <a:latin typeface="Times New Roman"/>
              <a:cs typeface="Times New Roman"/>
            </a:endParaRPr>
          </a:p>
          <a:p>
            <a:pPr marL="659130" marR="1746250">
              <a:lnSpc>
                <a:spcPct val="116199"/>
              </a:lnSpc>
            </a:pPr>
            <a:r>
              <a:rPr sz="3550" dirty="0">
                <a:latin typeface="Times New Roman"/>
                <a:cs typeface="Times New Roman"/>
              </a:rPr>
              <a:t>This</a:t>
            </a:r>
            <a:r>
              <a:rPr sz="3550" spc="-2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activity</a:t>
            </a:r>
            <a:r>
              <a:rPr sz="3550" spc="-2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helped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us</a:t>
            </a:r>
            <a:r>
              <a:rPr sz="3550" spc="-2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develop</a:t>
            </a:r>
            <a:r>
              <a:rPr sz="3550" spc="-2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teamwork,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communication,</a:t>
            </a:r>
            <a:r>
              <a:rPr sz="3550" spc="-2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and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social </a:t>
            </a:r>
            <a:r>
              <a:rPr sz="3550" dirty="0">
                <a:latin typeface="Times New Roman"/>
                <a:cs typeface="Times New Roman"/>
              </a:rPr>
              <a:t>responsibility</a:t>
            </a:r>
            <a:r>
              <a:rPr sz="3550" spc="-3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while</a:t>
            </a:r>
            <a:r>
              <a:rPr sz="3550" spc="-2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contributing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to</a:t>
            </a:r>
            <a:r>
              <a:rPr sz="3550" spc="-2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</a:t>
            </a:r>
            <a:r>
              <a:rPr sz="3550" spc="-2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cleaner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and</a:t>
            </a:r>
            <a:r>
              <a:rPr sz="3550" spc="-25" dirty="0">
                <a:latin typeface="Times New Roman"/>
                <a:cs typeface="Times New Roman"/>
              </a:rPr>
              <a:t> </a:t>
            </a:r>
            <a:r>
              <a:rPr sz="3550" dirty="0">
                <a:latin typeface="Times New Roman"/>
                <a:cs typeface="Times New Roman"/>
              </a:rPr>
              <a:t>healthier</a:t>
            </a:r>
            <a:r>
              <a:rPr sz="3550" spc="-20" dirty="0">
                <a:latin typeface="Times New Roman"/>
                <a:cs typeface="Times New Roman"/>
              </a:rPr>
              <a:t> </a:t>
            </a:r>
            <a:r>
              <a:rPr sz="3550" spc="-10" dirty="0">
                <a:latin typeface="Times New Roman"/>
                <a:cs typeface="Times New Roman"/>
              </a:rPr>
              <a:t>community.</a:t>
            </a:r>
            <a:endParaRPr sz="355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6526" y="4541169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6526" y="6427119"/>
            <a:ext cx="133350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6526" y="7684419"/>
            <a:ext cx="133350" cy="1333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8472" y="5192955"/>
            <a:ext cx="2749427" cy="26770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89632" y="2245130"/>
            <a:ext cx="3624579" cy="2101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47345">
              <a:lnSpc>
                <a:spcPct val="115500"/>
              </a:lnSpc>
              <a:spcBef>
                <a:spcPts val="95"/>
              </a:spcBef>
            </a:pPr>
            <a:r>
              <a:rPr sz="5900" b="1" spc="-10" dirty="0">
                <a:solidFill>
                  <a:srgbClr val="1736B1"/>
                </a:solidFill>
                <a:latin typeface="Trebuchet MS"/>
                <a:cs typeface="Trebuchet MS"/>
              </a:rPr>
              <a:t>Problem </a:t>
            </a:r>
            <a:r>
              <a:rPr sz="5900" b="1" spc="-30" dirty="0">
                <a:solidFill>
                  <a:srgbClr val="1736B1"/>
                </a:solidFill>
                <a:latin typeface="Trebuchet MS"/>
                <a:cs typeface="Trebuchet MS"/>
              </a:rPr>
              <a:t>Statement</a:t>
            </a:r>
            <a:endParaRPr sz="5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26305" y="679110"/>
            <a:ext cx="8957310" cy="631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50" b="1" dirty="0">
                <a:solidFill>
                  <a:srgbClr val="000000"/>
                </a:solidFill>
                <a:latin typeface="Trebuchet MS"/>
                <a:cs typeface="Trebuchet MS"/>
              </a:rPr>
              <a:t>Problems</a:t>
            </a:r>
            <a:r>
              <a:rPr sz="3950" b="1" spc="-18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3950" b="1" spc="-10" dirty="0">
                <a:solidFill>
                  <a:srgbClr val="000000"/>
                </a:solidFill>
                <a:latin typeface="Trebuchet MS"/>
                <a:cs typeface="Trebuchet MS"/>
              </a:rPr>
              <a:t>Identified</a:t>
            </a:r>
            <a:r>
              <a:rPr sz="3950" b="1" spc="-18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3950" b="1" spc="-3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3950" b="1" spc="-18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3950" b="1" spc="-45" dirty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sz="3950" b="1" spc="-18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3950" b="1" spc="-55" dirty="0">
                <a:solidFill>
                  <a:srgbClr val="000000"/>
                </a:solidFill>
                <a:latin typeface="Trebuchet MS"/>
                <a:cs typeface="Trebuchet MS"/>
              </a:rPr>
              <a:t>Community:</a:t>
            </a:r>
            <a:endParaRPr sz="3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6393" y="2344204"/>
            <a:ext cx="142875" cy="1428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186565" y="2012740"/>
            <a:ext cx="11563985" cy="6940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42900">
              <a:lnSpc>
                <a:spcPct val="116199"/>
              </a:lnSpc>
              <a:spcBef>
                <a:spcPts val="95"/>
              </a:spcBef>
            </a:pPr>
            <a:r>
              <a:rPr sz="3550" spc="114" dirty="0">
                <a:latin typeface="Trebuchet MS"/>
                <a:cs typeface="Trebuchet MS"/>
              </a:rPr>
              <a:t>Many</a:t>
            </a:r>
            <a:r>
              <a:rPr sz="3550" spc="-95" dirty="0">
                <a:latin typeface="Trebuchet MS"/>
                <a:cs typeface="Trebuchet MS"/>
              </a:rPr>
              <a:t> </a:t>
            </a:r>
            <a:r>
              <a:rPr sz="3550" spc="65" dirty="0">
                <a:latin typeface="Trebuchet MS"/>
                <a:cs typeface="Trebuchet MS"/>
              </a:rPr>
              <a:t>residents</a:t>
            </a:r>
            <a:r>
              <a:rPr sz="3550" spc="-95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throw</a:t>
            </a:r>
            <a:r>
              <a:rPr sz="3550" spc="-95" dirty="0">
                <a:latin typeface="Trebuchet MS"/>
                <a:cs typeface="Trebuchet MS"/>
              </a:rPr>
              <a:t> </a:t>
            </a:r>
            <a:r>
              <a:rPr sz="3550" spc="125" dirty="0">
                <a:latin typeface="Trebuchet MS"/>
                <a:cs typeface="Trebuchet MS"/>
              </a:rPr>
              <a:t>household</a:t>
            </a:r>
            <a:r>
              <a:rPr sz="3550" spc="-95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waste</a:t>
            </a:r>
            <a:r>
              <a:rPr sz="3550" spc="-95" dirty="0">
                <a:latin typeface="Trebuchet MS"/>
                <a:cs typeface="Trebuchet MS"/>
              </a:rPr>
              <a:t> </a:t>
            </a:r>
            <a:r>
              <a:rPr sz="3550" spc="75" dirty="0">
                <a:latin typeface="Trebuchet MS"/>
                <a:cs typeface="Trebuchet MS"/>
              </a:rPr>
              <a:t>outside</a:t>
            </a:r>
            <a:r>
              <a:rPr sz="3550" spc="-95" dirty="0">
                <a:latin typeface="Trebuchet MS"/>
                <a:cs typeface="Trebuchet MS"/>
              </a:rPr>
              <a:t> </a:t>
            </a:r>
            <a:r>
              <a:rPr sz="3550" spc="90" dirty="0">
                <a:latin typeface="Trebuchet MS"/>
                <a:cs typeface="Trebuchet MS"/>
              </a:rPr>
              <a:t>due</a:t>
            </a:r>
            <a:r>
              <a:rPr sz="3550" spc="-95" dirty="0">
                <a:latin typeface="Trebuchet MS"/>
                <a:cs typeface="Trebuchet MS"/>
              </a:rPr>
              <a:t> </a:t>
            </a:r>
            <a:r>
              <a:rPr sz="3550" spc="-25" dirty="0">
                <a:latin typeface="Trebuchet MS"/>
                <a:cs typeface="Trebuchet MS"/>
              </a:rPr>
              <a:t>to </a:t>
            </a:r>
            <a:r>
              <a:rPr sz="3550" dirty="0">
                <a:latin typeface="Trebuchet MS"/>
                <a:cs typeface="Trebuchet MS"/>
              </a:rPr>
              <a:t>the</a:t>
            </a:r>
            <a:r>
              <a:rPr sz="3550" spc="-110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lack</a:t>
            </a:r>
            <a:r>
              <a:rPr sz="3550" spc="-105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of</a:t>
            </a:r>
            <a:r>
              <a:rPr sz="3550" spc="-105" dirty="0">
                <a:latin typeface="Trebuchet MS"/>
                <a:cs typeface="Trebuchet MS"/>
              </a:rPr>
              <a:t> </a:t>
            </a:r>
            <a:r>
              <a:rPr sz="3550" spc="105" dirty="0">
                <a:latin typeface="Trebuchet MS"/>
                <a:cs typeface="Trebuchet MS"/>
              </a:rPr>
              <a:t>dustbins</a:t>
            </a:r>
            <a:r>
              <a:rPr sz="3550" spc="-105" dirty="0">
                <a:latin typeface="Trebuchet MS"/>
                <a:cs typeface="Trebuchet MS"/>
              </a:rPr>
              <a:t> </a:t>
            </a:r>
            <a:r>
              <a:rPr sz="3550" spc="125" dirty="0">
                <a:latin typeface="Trebuchet MS"/>
                <a:cs typeface="Trebuchet MS"/>
              </a:rPr>
              <a:t>and</a:t>
            </a:r>
            <a:r>
              <a:rPr sz="3550" spc="-105" dirty="0">
                <a:latin typeface="Trebuchet MS"/>
                <a:cs typeface="Trebuchet MS"/>
              </a:rPr>
              <a:t> </a:t>
            </a:r>
            <a:r>
              <a:rPr sz="3550" spc="70" dirty="0">
                <a:latin typeface="Trebuchet MS"/>
                <a:cs typeface="Trebuchet MS"/>
              </a:rPr>
              <a:t>proper</a:t>
            </a:r>
            <a:r>
              <a:rPr sz="3550" spc="-105" dirty="0">
                <a:latin typeface="Trebuchet MS"/>
                <a:cs typeface="Trebuchet MS"/>
              </a:rPr>
              <a:t> </a:t>
            </a:r>
            <a:r>
              <a:rPr sz="3550" spc="-10" dirty="0">
                <a:latin typeface="Trebuchet MS"/>
                <a:cs typeface="Trebuchet MS"/>
              </a:rPr>
              <a:t>awareness.</a:t>
            </a:r>
            <a:endParaRPr sz="3550">
              <a:latin typeface="Trebuchet MS"/>
              <a:cs typeface="Trebuchet MS"/>
            </a:endParaRPr>
          </a:p>
          <a:p>
            <a:pPr marL="12700" marR="5080">
              <a:lnSpc>
                <a:spcPct val="116199"/>
              </a:lnSpc>
            </a:pPr>
            <a:r>
              <a:rPr sz="3550" dirty="0">
                <a:latin typeface="Trebuchet MS"/>
                <a:cs typeface="Trebuchet MS"/>
              </a:rPr>
              <a:t>This</a:t>
            </a:r>
            <a:r>
              <a:rPr sz="3550" spc="-90" dirty="0">
                <a:latin typeface="Trebuchet MS"/>
                <a:cs typeface="Trebuchet MS"/>
              </a:rPr>
              <a:t> </a:t>
            </a:r>
            <a:r>
              <a:rPr sz="3550" spc="50" dirty="0">
                <a:latin typeface="Trebuchet MS"/>
                <a:cs typeface="Trebuchet MS"/>
              </a:rPr>
              <a:t>careless</a:t>
            </a:r>
            <a:r>
              <a:rPr sz="3550" spc="-85" dirty="0">
                <a:latin typeface="Trebuchet MS"/>
                <a:cs typeface="Trebuchet MS"/>
              </a:rPr>
              <a:t> </a:t>
            </a:r>
            <a:r>
              <a:rPr sz="3550" spc="114" dirty="0">
                <a:latin typeface="Trebuchet MS"/>
                <a:cs typeface="Trebuchet MS"/>
              </a:rPr>
              <a:t>disposal</a:t>
            </a:r>
            <a:r>
              <a:rPr sz="3550" spc="-85" dirty="0">
                <a:latin typeface="Trebuchet MS"/>
                <a:cs typeface="Trebuchet MS"/>
              </a:rPr>
              <a:t> </a:t>
            </a:r>
            <a:r>
              <a:rPr sz="3550" spc="85" dirty="0">
                <a:latin typeface="Trebuchet MS"/>
                <a:cs typeface="Trebuchet MS"/>
              </a:rPr>
              <a:t>leads</a:t>
            </a:r>
            <a:r>
              <a:rPr sz="3550" spc="-85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to</a:t>
            </a:r>
            <a:r>
              <a:rPr sz="3550" spc="-85" dirty="0">
                <a:latin typeface="Trebuchet MS"/>
                <a:cs typeface="Trebuchet MS"/>
              </a:rPr>
              <a:t> </a:t>
            </a:r>
            <a:r>
              <a:rPr sz="3550" spc="55" dirty="0">
                <a:latin typeface="Trebuchet MS"/>
                <a:cs typeface="Trebuchet MS"/>
              </a:rPr>
              <a:t>garbage</a:t>
            </a:r>
            <a:r>
              <a:rPr sz="3550" spc="-85" dirty="0">
                <a:latin typeface="Trebuchet MS"/>
                <a:cs typeface="Trebuchet MS"/>
              </a:rPr>
              <a:t> </a:t>
            </a:r>
            <a:r>
              <a:rPr sz="3550" spc="-10" dirty="0">
                <a:latin typeface="Trebuchet MS"/>
                <a:cs typeface="Trebuchet MS"/>
              </a:rPr>
              <a:t>accumulation, </a:t>
            </a:r>
            <a:r>
              <a:rPr sz="3550" spc="95" dirty="0">
                <a:latin typeface="Trebuchet MS"/>
                <a:cs typeface="Trebuchet MS"/>
              </a:rPr>
              <a:t>mosquito</a:t>
            </a:r>
            <a:r>
              <a:rPr sz="3550" spc="-80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breeding,</a:t>
            </a:r>
            <a:r>
              <a:rPr sz="3550" spc="-80" dirty="0">
                <a:latin typeface="Trebuchet MS"/>
                <a:cs typeface="Trebuchet MS"/>
              </a:rPr>
              <a:t> </a:t>
            </a:r>
            <a:r>
              <a:rPr sz="3550" spc="125" dirty="0">
                <a:latin typeface="Trebuchet MS"/>
                <a:cs typeface="Trebuchet MS"/>
              </a:rPr>
              <a:t>and</a:t>
            </a:r>
            <a:r>
              <a:rPr sz="3550" spc="-80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frequent</a:t>
            </a:r>
            <a:r>
              <a:rPr sz="3550" spc="-75" dirty="0">
                <a:latin typeface="Trebuchet MS"/>
                <a:cs typeface="Trebuchet MS"/>
              </a:rPr>
              <a:t> </a:t>
            </a:r>
            <a:r>
              <a:rPr sz="3550" spc="60" dirty="0">
                <a:latin typeface="Trebuchet MS"/>
                <a:cs typeface="Trebuchet MS"/>
              </a:rPr>
              <a:t>drainage</a:t>
            </a:r>
            <a:r>
              <a:rPr sz="3550" spc="-80" dirty="0">
                <a:latin typeface="Trebuchet MS"/>
                <a:cs typeface="Trebuchet MS"/>
              </a:rPr>
              <a:t> </a:t>
            </a:r>
            <a:r>
              <a:rPr sz="3550" spc="-10" dirty="0">
                <a:latin typeface="Trebuchet MS"/>
                <a:cs typeface="Trebuchet MS"/>
              </a:rPr>
              <a:t>blockages. </a:t>
            </a:r>
            <a:r>
              <a:rPr sz="3550" spc="125" dirty="0">
                <a:latin typeface="Trebuchet MS"/>
                <a:cs typeface="Trebuchet MS"/>
              </a:rPr>
              <a:t>Most</a:t>
            </a:r>
            <a:r>
              <a:rPr sz="3550" spc="-50" dirty="0">
                <a:latin typeface="Trebuchet MS"/>
                <a:cs typeface="Trebuchet MS"/>
              </a:rPr>
              <a:t> </a:t>
            </a:r>
            <a:r>
              <a:rPr sz="3550" spc="65" dirty="0">
                <a:latin typeface="Trebuchet MS"/>
                <a:cs typeface="Trebuchet MS"/>
              </a:rPr>
              <a:t>people</a:t>
            </a:r>
            <a:r>
              <a:rPr sz="3550" spc="-50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are</a:t>
            </a:r>
            <a:r>
              <a:rPr sz="3550" spc="-50" dirty="0">
                <a:latin typeface="Trebuchet MS"/>
                <a:cs typeface="Trebuchet MS"/>
              </a:rPr>
              <a:t> </a:t>
            </a:r>
            <a:r>
              <a:rPr sz="3550" spc="45" dirty="0">
                <a:latin typeface="Trebuchet MS"/>
                <a:cs typeface="Trebuchet MS"/>
              </a:rPr>
              <a:t>unaware</a:t>
            </a:r>
            <a:r>
              <a:rPr sz="3550" spc="-50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of</a:t>
            </a:r>
            <a:r>
              <a:rPr sz="3550" spc="-50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the</a:t>
            </a:r>
            <a:r>
              <a:rPr sz="3550" spc="-50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importance</a:t>
            </a:r>
            <a:r>
              <a:rPr sz="3550" spc="-50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of</a:t>
            </a:r>
            <a:r>
              <a:rPr sz="3550" spc="-50" dirty="0">
                <a:latin typeface="Trebuchet MS"/>
                <a:cs typeface="Trebuchet MS"/>
              </a:rPr>
              <a:t> </a:t>
            </a:r>
            <a:r>
              <a:rPr sz="3550" spc="-10" dirty="0">
                <a:latin typeface="Trebuchet MS"/>
                <a:cs typeface="Trebuchet MS"/>
              </a:rPr>
              <a:t>waste </a:t>
            </a:r>
            <a:r>
              <a:rPr sz="3550" spc="50" dirty="0">
                <a:latin typeface="Trebuchet MS"/>
                <a:cs typeface="Trebuchet MS"/>
              </a:rPr>
              <a:t>segregation</a:t>
            </a:r>
            <a:r>
              <a:rPr sz="3550" spc="-140" dirty="0">
                <a:latin typeface="Trebuchet MS"/>
                <a:cs typeface="Trebuchet MS"/>
              </a:rPr>
              <a:t> </a:t>
            </a:r>
            <a:r>
              <a:rPr sz="3550" spc="125" dirty="0">
                <a:latin typeface="Trebuchet MS"/>
                <a:cs typeface="Trebuchet MS"/>
              </a:rPr>
              <a:t>and</a:t>
            </a:r>
            <a:r>
              <a:rPr sz="3550" spc="-140" dirty="0">
                <a:latin typeface="Trebuchet MS"/>
                <a:cs typeface="Trebuchet MS"/>
              </a:rPr>
              <a:t> </a:t>
            </a:r>
            <a:r>
              <a:rPr sz="3550" spc="45" dirty="0">
                <a:latin typeface="Trebuchet MS"/>
                <a:cs typeface="Trebuchet MS"/>
              </a:rPr>
              <a:t>hygiene</a:t>
            </a:r>
            <a:r>
              <a:rPr sz="3550" spc="-135" dirty="0">
                <a:latin typeface="Trebuchet MS"/>
                <a:cs typeface="Trebuchet MS"/>
              </a:rPr>
              <a:t> </a:t>
            </a:r>
            <a:r>
              <a:rPr sz="3550" spc="-25" dirty="0">
                <a:latin typeface="Trebuchet MS"/>
                <a:cs typeface="Trebuchet MS"/>
              </a:rPr>
              <a:t>practices.</a:t>
            </a:r>
            <a:r>
              <a:rPr sz="3550" spc="-140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There</a:t>
            </a:r>
            <a:r>
              <a:rPr sz="3550" spc="-140" dirty="0">
                <a:latin typeface="Trebuchet MS"/>
                <a:cs typeface="Trebuchet MS"/>
              </a:rPr>
              <a:t> </a:t>
            </a:r>
            <a:r>
              <a:rPr sz="3550" spc="105" dirty="0">
                <a:latin typeface="Trebuchet MS"/>
                <a:cs typeface="Trebuchet MS"/>
              </a:rPr>
              <a:t>is</a:t>
            </a:r>
            <a:r>
              <a:rPr sz="3550" spc="-135" dirty="0">
                <a:latin typeface="Trebuchet MS"/>
                <a:cs typeface="Trebuchet MS"/>
              </a:rPr>
              <a:t> </a:t>
            </a:r>
            <a:r>
              <a:rPr sz="3550" spc="160" dirty="0">
                <a:latin typeface="Trebuchet MS"/>
                <a:cs typeface="Trebuchet MS"/>
              </a:rPr>
              <a:t>no</a:t>
            </a:r>
            <a:r>
              <a:rPr sz="3550" spc="-140" dirty="0">
                <a:latin typeface="Trebuchet MS"/>
                <a:cs typeface="Trebuchet MS"/>
              </a:rPr>
              <a:t> </a:t>
            </a:r>
            <a:r>
              <a:rPr sz="3550" spc="60" dirty="0">
                <a:latin typeface="Trebuchet MS"/>
                <a:cs typeface="Trebuchet MS"/>
              </a:rPr>
              <a:t>proper </a:t>
            </a:r>
            <a:r>
              <a:rPr sz="3550" spc="65" dirty="0">
                <a:latin typeface="Trebuchet MS"/>
                <a:cs typeface="Trebuchet MS"/>
              </a:rPr>
              <a:t>system</a:t>
            </a:r>
            <a:r>
              <a:rPr sz="3550" spc="-80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for</a:t>
            </a:r>
            <a:r>
              <a:rPr sz="3550" spc="-75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waste</a:t>
            </a:r>
            <a:r>
              <a:rPr sz="3550" spc="-75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collection</a:t>
            </a:r>
            <a:r>
              <a:rPr sz="3550" spc="-80" dirty="0">
                <a:latin typeface="Trebuchet MS"/>
                <a:cs typeface="Trebuchet MS"/>
              </a:rPr>
              <a:t> </a:t>
            </a:r>
            <a:r>
              <a:rPr sz="3550" spc="80" dirty="0">
                <a:latin typeface="Trebuchet MS"/>
                <a:cs typeface="Trebuchet MS"/>
              </a:rPr>
              <a:t>or</a:t>
            </a:r>
            <a:r>
              <a:rPr sz="3550" spc="-75" dirty="0">
                <a:latin typeface="Trebuchet MS"/>
                <a:cs typeface="Trebuchet MS"/>
              </a:rPr>
              <a:t> </a:t>
            </a:r>
            <a:r>
              <a:rPr sz="3550" spc="60" dirty="0">
                <a:latin typeface="Trebuchet MS"/>
                <a:cs typeface="Trebuchet MS"/>
              </a:rPr>
              <a:t>monitoring</a:t>
            </a:r>
            <a:r>
              <a:rPr sz="3550" spc="-75" dirty="0">
                <a:latin typeface="Trebuchet MS"/>
                <a:cs typeface="Trebuchet MS"/>
              </a:rPr>
              <a:t> </a:t>
            </a:r>
            <a:r>
              <a:rPr sz="3550" spc="60" dirty="0">
                <a:latin typeface="Trebuchet MS"/>
                <a:cs typeface="Trebuchet MS"/>
              </a:rPr>
              <a:t>cleanliness</a:t>
            </a:r>
            <a:r>
              <a:rPr sz="3550" spc="-80" dirty="0">
                <a:latin typeface="Trebuchet MS"/>
                <a:cs typeface="Trebuchet MS"/>
              </a:rPr>
              <a:t> </a:t>
            </a:r>
            <a:r>
              <a:rPr sz="3550" spc="40" dirty="0">
                <a:latin typeface="Trebuchet MS"/>
                <a:cs typeface="Trebuchet MS"/>
              </a:rPr>
              <a:t>in </a:t>
            </a:r>
            <a:r>
              <a:rPr sz="3550" dirty="0">
                <a:latin typeface="Trebuchet MS"/>
                <a:cs typeface="Trebuchet MS"/>
              </a:rPr>
              <a:t>the</a:t>
            </a:r>
            <a:r>
              <a:rPr sz="3550" spc="-110" dirty="0">
                <a:latin typeface="Trebuchet MS"/>
                <a:cs typeface="Trebuchet MS"/>
              </a:rPr>
              <a:t> </a:t>
            </a:r>
            <a:r>
              <a:rPr sz="3550" spc="-20" dirty="0">
                <a:latin typeface="Trebuchet MS"/>
                <a:cs typeface="Trebuchet MS"/>
              </a:rPr>
              <a:t>area.</a:t>
            </a:r>
            <a:endParaRPr sz="3550">
              <a:latin typeface="Trebuchet MS"/>
              <a:cs typeface="Trebuchet MS"/>
            </a:endParaRPr>
          </a:p>
          <a:p>
            <a:pPr marL="12700" marR="440690">
              <a:lnSpc>
                <a:spcPct val="116199"/>
              </a:lnSpc>
            </a:pPr>
            <a:r>
              <a:rPr sz="3550" dirty="0">
                <a:latin typeface="Trebuchet MS"/>
                <a:cs typeface="Trebuchet MS"/>
              </a:rPr>
              <a:t>Irregular</a:t>
            </a:r>
            <a:r>
              <a:rPr sz="3550" spc="15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cleaning</a:t>
            </a:r>
            <a:r>
              <a:rPr sz="3550" spc="15" dirty="0">
                <a:latin typeface="Trebuchet MS"/>
                <a:cs typeface="Trebuchet MS"/>
              </a:rPr>
              <a:t> </a:t>
            </a:r>
            <a:r>
              <a:rPr sz="3550" spc="85" dirty="0">
                <a:latin typeface="Trebuchet MS"/>
                <a:cs typeface="Trebuchet MS"/>
              </a:rPr>
              <a:t>schedules</a:t>
            </a:r>
            <a:r>
              <a:rPr sz="3550" spc="15" dirty="0">
                <a:latin typeface="Trebuchet MS"/>
                <a:cs typeface="Trebuchet MS"/>
              </a:rPr>
              <a:t> </a:t>
            </a:r>
            <a:r>
              <a:rPr sz="3550" spc="125" dirty="0">
                <a:latin typeface="Trebuchet MS"/>
                <a:cs typeface="Trebuchet MS"/>
              </a:rPr>
              <a:t>and</a:t>
            </a:r>
            <a:r>
              <a:rPr sz="3550" spc="15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limited</a:t>
            </a:r>
            <a:r>
              <a:rPr sz="3550" spc="15" dirty="0">
                <a:latin typeface="Trebuchet MS"/>
                <a:cs typeface="Trebuchet MS"/>
              </a:rPr>
              <a:t> </a:t>
            </a:r>
            <a:r>
              <a:rPr sz="3550" spc="55" dirty="0">
                <a:latin typeface="Trebuchet MS"/>
                <a:cs typeface="Trebuchet MS"/>
              </a:rPr>
              <a:t>coordination </a:t>
            </a:r>
            <a:r>
              <a:rPr sz="3550" dirty="0">
                <a:latin typeface="Trebuchet MS"/>
                <a:cs typeface="Trebuchet MS"/>
              </a:rPr>
              <a:t>between</a:t>
            </a:r>
            <a:r>
              <a:rPr sz="3550" spc="-85" dirty="0">
                <a:latin typeface="Trebuchet MS"/>
                <a:cs typeface="Trebuchet MS"/>
              </a:rPr>
              <a:t> </a:t>
            </a:r>
            <a:r>
              <a:rPr sz="3550" spc="65" dirty="0">
                <a:latin typeface="Trebuchet MS"/>
                <a:cs typeface="Trebuchet MS"/>
              </a:rPr>
              <a:t>residents</a:t>
            </a:r>
            <a:r>
              <a:rPr sz="3550" spc="-80" dirty="0">
                <a:latin typeface="Trebuchet MS"/>
                <a:cs typeface="Trebuchet MS"/>
              </a:rPr>
              <a:t> </a:t>
            </a:r>
            <a:r>
              <a:rPr sz="3550" spc="125" dirty="0">
                <a:latin typeface="Trebuchet MS"/>
                <a:cs typeface="Trebuchet MS"/>
              </a:rPr>
              <a:t>and</a:t>
            </a:r>
            <a:r>
              <a:rPr sz="3550" spc="-80" dirty="0">
                <a:latin typeface="Trebuchet MS"/>
                <a:cs typeface="Trebuchet MS"/>
              </a:rPr>
              <a:t> </a:t>
            </a:r>
            <a:r>
              <a:rPr sz="3550" spc="50" dirty="0">
                <a:latin typeface="Trebuchet MS"/>
                <a:cs typeface="Trebuchet MS"/>
              </a:rPr>
              <a:t>municipal</a:t>
            </a:r>
            <a:r>
              <a:rPr sz="3550" spc="-80" dirty="0">
                <a:latin typeface="Trebuchet MS"/>
                <a:cs typeface="Trebuchet MS"/>
              </a:rPr>
              <a:t> </a:t>
            </a:r>
            <a:r>
              <a:rPr sz="3550" spc="45" dirty="0">
                <a:latin typeface="Trebuchet MS"/>
                <a:cs typeface="Trebuchet MS"/>
              </a:rPr>
              <a:t>workers</a:t>
            </a:r>
            <a:r>
              <a:rPr sz="3550" spc="-80" dirty="0">
                <a:latin typeface="Trebuchet MS"/>
                <a:cs typeface="Trebuchet MS"/>
              </a:rPr>
              <a:t> </a:t>
            </a:r>
            <a:r>
              <a:rPr sz="3550" dirty="0">
                <a:latin typeface="Trebuchet MS"/>
                <a:cs typeface="Trebuchet MS"/>
              </a:rPr>
              <a:t>make</a:t>
            </a:r>
            <a:r>
              <a:rPr sz="3550" spc="-80" dirty="0">
                <a:latin typeface="Trebuchet MS"/>
                <a:cs typeface="Trebuchet MS"/>
              </a:rPr>
              <a:t> </a:t>
            </a:r>
            <a:r>
              <a:rPr sz="3550" spc="-25" dirty="0">
                <a:latin typeface="Trebuchet MS"/>
                <a:cs typeface="Trebuchet MS"/>
              </a:rPr>
              <a:t>the </a:t>
            </a:r>
            <a:r>
              <a:rPr sz="3550" spc="50" dirty="0">
                <a:latin typeface="Trebuchet MS"/>
                <a:cs typeface="Trebuchet MS"/>
              </a:rPr>
              <a:t>situation</a:t>
            </a:r>
            <a:r>
              <a:rPr sz="3550" spc="-125" dirty="0">
                <a:latin typeface="Trebuchet MS"/>
                <a:cs typeface="Trebuchet MS"/>
              </a:rPr>
              <a:t> </a:t>
            </a:r>
            <a:r>
              <a:rPr sz="3550" spc="-10" dirty="0">
                <a:latin typeface="Trebuchet MS"/>
                <a:cs typeface="Trebuchet MS"/>
              </a:rPr>
              <a:t>worse.</a:t>
            </a:r>
            <a:endParaRPr sz="355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6393" y="3601503"/>
            <a:ext cx="142875" cy="1428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6393" y="4858803"/>
            <a:ext cx="142875" cy="1428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6393" y="7373403"/>
            <a:ext cx="142875" cy="1428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0212" rIns="0" bIns="0" rtlCol="0">
            <a:spAutoFit/>
          </a:bodyPr>
          <a:lstStyle/>
          <a:p>
            <a:pPr marL="198755">
              <a:lnSpc>
                <a:spcPct val="100000"/>
              </a:lnSpc>
              <a:spcBef>
                <a:spcPts val="125"/>
              </a:spcBef>
            </a:pPr>
            <a:r>
              <a:rPr sz="6700" b="1" spc="-105" dirty="0">
                <a:solidFill>
                  <a:srgbClr val="0A57CF"/>
                </a:solidFill>
                <a:latin typeface="Trebuchet MS"/>
                <a:cs typeface="Trebuchet MS"/>
              </a:rPr>
              <a:t>Abstract:</a:t>
            </a:r>
            <a:endParaRPr sz="67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3137" y="2789868"/>
            <a:ext cx="152400" cy="1523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41959">
              <a:lnSpc>
                <a:spcPct val="115500"/>
              </a:lnSpc>
              <a:spcBef>
                <a:spcPts val="100"/>
              </a:spcBef>
            </a:pPr>
            <a:r>
              <a:rPr spc="-175" dirty="0"/>
              <a:t>To</a:t>
            </a:r>
            <a:r>
              <a:rPr spc="-315" dirty="0"/>
              <a:t> </a:t>
            </a:r>
            <a:r>
              <a:rPr spc="-10" dirty="0"/>
              <a:t>identify</a:t>
            </a:r>
            <a:r>
              <a:rPr spc="-315" dirty="0"/>
              <a:t> </a:t>
            </a:r>
            <a:r>
              <a:rPr spc="-55" dirty="0"/>
              <a:t>and</a:t>
            </a:r>
            <a:r>
              <a:rPr spc="-315" dirty="0"/>
              <a:t> </a:t>
            </a:r>
            <a:r>
              <a:rPr spc="-50" dirty="0"/>
              <a:t>understand</a:t>
            </a:r>
            <a:r>
              <a:rPr spc="-310" dirty="0"/>
              <a:t> </a:t>
            </a:r>
            <a:r>
              <a:rPr spc="-35" dirty="0"/>
              <a:t>the</a:t>
            </a:r>
            <a:r>
              <a:rPr spc="-315" dirty="0"/>
              <a:t> </a:t>
            </a:r>
            <a:r>
              <a:rPr spc="-140" dirty="0"/>
              <a:t>major</a:t>
            </a:r>
            <a:r>
              <a:rPr spc="-315" dirty="0"/>
              <a:t> </a:t>
            </a:r>
            <a:r>
              <a:rPr spc="-100" dirty="0"/>
              <a:t>waste</a:t>
            </a:r>
            <a:r>
              <a:rPr spc="-315" dirty="0"/>
              <a:t> </a:t>
            </a:r>
            <a:r>
              <a:rPr spc="-130" dirty="0"/>
              <a:t>management</a:t>
            </a:r>
            <a:r>
              <a:rPr spc="-310" dirty="0"/>
              <a:t> </a:t>
            </a:r>
            <a:r>
              <a:rPr spc="-40" dirty="0"/>
              <a:t>problems</a:t>
            </a:r>
            <a:r>
              <a:rPr spc="-315" dirty="0"/>
              <a:t> </a:t>
            </a:r>
            <a:r>
              <a:rPr spc="-45" dirty="0"/>
              <a:t>in</a:t>
            </a:r>
            <a:r>
              <a:rPr spc="-315" dirty="0"/>
              <a:t> </a:t>
            </a:r>
            <a:r>
              <a:rPr spc="-25" dirty="0"/>
              <a:t>our </a:t>
            </a:r>
            <a:r>
              <a:rPr spc="-70" dirty="0"/>
              <a:t>locality,</a:t>
            </a:r>
            <a:r>
              <a:rPr spc="-305" dirty="0"/>
              <a:t> </a:t>
            </a:r>
            <a:r>
              <a:rPr spc="-40" dirty="0"/>
              <a:t>such</a:t>
            </a:r>
            <a:r>
              <a:rPr spc="-305" dirty="0"/>
              <a:t> </a:t>
            </a:r>
            <a:r>
              <a:rPr spc="-135" dirty="0"/>
              <a:t>as</a:t>
            </a:r>
            <a:r>
              <a:rPr spc="-305" dirty="0"/>
              <a:t> </a:t>
            </a:r>
            <a:r>
              <a:rPr spc="-140" dirty="0"/>
              <a:t>garbage</a:t>
            </a:r>
            <a:r>
              <a:rPr spc="-305" dirty="0"/>
              <a:t> </a:t>
            </a:r>
            <a:r>
              <a:rPr spc="-70" dirty="0"/>
              <a:t>accumulation,</a:t>
            </a:r>
            <a:r>
              <a:rPr spc="-305" dirty="0"/>
              <a:t> </a:t>
            </a:r>
            <a:r>
              <a:rPr spc="-45" dirty="0"/>
              <a:t>mosquito</a:t>
            </a:r>
            <a:r>
              <a:rPr spc="-305" dirty="0"/>
              <a:t> </a:t>
            </a:r>
            <a:r>
              <a:rPr spc="-100" dirty="0"/>
              <a:t>breeding,</a:t>
            </a:r>
            <a:r>
              <a:rPr spc="-305" dirty="0"/>
              <a:t> </a:t>
            </a:r>
            <a:r>
              <a:rPr spc="-55" dirty="0"/>
              <a:t>and</a:t>
            </a:r>
            <a:r>
              <a:rPr spc="-305" dirty="0"/>
              <a:t> </a:t>
            </a:r>
            <a:r>
              <a:rPr spc="-10" dirty="0"/>
              <a:t>drainage blockages.</a:t>
            </a:r>
          </a:p>
          <a:p>
            <a:pPr marL="12700" marR="5080">
              <a:lnSpc>
                <a:spcPct val="115500"/>
              </a:lnSpc>
            </a:pPr>
            <a:r>
              <a:rPr spc="-175" dirty="0"/>
              <a:t>To</a:t>
            </a:r>
            <a:r>
              <a:rPr spc="-330" dirty="0"/>
              <a:t> </a:t>
            </a:r>
            <a:r>
              <a:rPr spc="-40" dirty="0"/>
              <a:t>study</a:t>
            </a:r>
            <a:r>
              <a:rPr spc="-325" dirty="0"/>
              <a:t> </a:t>
            </a:r>
            <a:r>
              <a:rPr spc="-35" dirty="0"/>
              <a:t>the</a:t>
            </a:r>
            <a:r>
              <a:rPr spc="-325" dirty="0"/>
              <a:t> </a:t>
            </a:r>
            <a:r>
              <a:rPr spc="-85" dirty="0"/>
              <a:t>reasons</a:t>
            </a:r>
            <a:r>
              <a:rPr spc="-325" dirty="0"/>
              <a:t> </a:t>
            </a:r>
            <a:r>
              <a:rPr spc="-25" dirty="0"/>
              <a:t>behind</a:t>
            </a:r>
            <a:r>
              <a:rPr spc="-325" dirty="0"/>
              <a:t> </a:t>
            </a:r>
            <a:r>
              <a:rPr spc="-40" dirty="0"/>
              <a:t>improper</a:t>
            </a:r>
            <a:r>
              <a:rPr spc="-330" dirty="0"/>
              <a:t> </a:t>
            </a:r>
            <a:r>
              <a:rPr spc="-100" dirty="0"/>
              <a:t>waste</a:t>
            </a:r>
            <a:r>
              <a:rPr spc="-325" dirty="0"/>
              <a:t> </a:t>
            </a:r>
            <a:r>
              <a:rPr spc="-30" dirty="0"/>
              <a:t>disposal</a:t>
            </a:r>
            <a:r>
              <a:rPr spc="-325" dirty="0"/>
              <a:t> </a:t>
            </a:r>
            <a:r>
              <a:rPr spc="-55" dirty="0"/>
              <a:t>and</a:t>
            </a:r>
            <a:r>
              <a:rPr spc="-325" dirty="0"/>
              <a:t> </a:t>
            </a:r>
            <a:r>
              <a:rPr spc="-85" dirty="0"/>
              <a:t>lack</a:t>
            </a:r>
            <a:r>
              <a:rPr spc="-325" dirty="0"/>
              <a:t> </a:t>
            </a:r>
            <a:r>
              <a:rPr spc="50" dirty="0"/>
              <a:t>of</a:t>
            </a:r>
            <a:r>
              <a:rPr spc="-325" dirty="0"/>
              <a:t> </a:t>
            </a:r>
            <a:r>
              <a:rPr spc="-40" dirty="0"/>
              <a:t>awareness </a:t>
            </a:r>
            <a:r>
              <a:rPr spc="-135" dirty="0"/>
              <a:t>among</a:t>
            </a:r>
            <a:r>
              <a:rPr spc="-320" dirty="0"/>
              <a:t> </a:t>
            </a:r>
            <a:r>
              <a:rPr spc="-10" dirty="0"/>
              <a:t>residents.</a:t>
            </a:r>
          </a:p>
          <a:p>
            <a:pPr marL="12700" marR="1840864">
              <a:lnSpc>
                <a:spcPct val="115500"/>
              </a:lnSpc>
            </a:pPr>
            <a:r>
              <a:rPr spc="-175" dirty="0"/>
              <a:t>To</a:t>
            </a:r>
            <a:r>
              <a:rPr spc="-300" dirty="0"/>
              <a:t> </a:t>
            </a:r>
            <a:r>
              <a:rPr spc="-60" dirty="0"/>
              <a:t>spread</a:t>
            </a:r>
            <a:r>
              <a:rPr spc="-300" dirty="0"/>
              <a:t> </a:t>
            </a:r>
            <a:r>
              <a:rPr spc="-120" dirty="0"/>
              <a:t>awareness</a:t>
            </a:r>
            <a:r>
              <a:rPr spc="-300" dirty="0"/>
              <a:t> </a:t>
            </a:r>
            <a:r>
              <a:rPr spc="-35" dirty="0"/>
              <a:t>about</a:t>
            </a:r>
            <a:r>
              <a:rPr spc="-300" dirty="0"/>
              <a:t> </a:t>
            </a:r>
            <a:r>
              <a:rPr spc="-75" dirty="0"/>
              <a:t>cleanliness,</a:t>
            </a:r>
            <a:r>
              <a:rPr spc="-295" dirty="0"/>
              <a:t> </a:t>
            </a:r>
            <a:r>
              <a:rPr spc="-100" dirty="0"/>
              <a:t>waste</a:t>
            </a:r>
            <a:r>
              <a:rPr spc="-300" dirty="0"/>
              <a:t> </a:t>
            </a:r>
            <a:r>
              <a:rPr spc="-130" dirty="0"/>
              <a:t>segregation,</a:t>
            </a:r>
            <a:r>
              <a:rPr spc="-300" dirty="0"/>
              <a:t> </a:t>
            </a:r>
            <a:r>
              <a:rPr spc="-55" dirty="0"/>
              <a:t>and</a:t>
            </a:r>
            <a:r>
              <a:rPr spc="-300" dirty="0"/>
              <a:t> </a:t>
            </a:r>
            <a:r>
              <a:rPr spc="-25" dirty="0"/>
              <a:t>the </a:t>
            </a:r>
            <a:r>
              <a:rPr spc="-40" dirty="0"/>
              <a:t>importance</a:t>
            </a:r>
            <a:r>
              <a:rPr spc="-325" dirty="0"/>
              <a:t> </a:t>
            </a:r>
            <a:r>
              <a:rPr spc="50" dirty="0"/>
              <a:t>of</a:t>
            </a:r>
            <a:r>
              <a:rPr spc="-320" dirty="0"/>
              <a:t> </a:t>
            </a:r>
            <a:r>
              <a:rPr spc="-110" dirty="0"/>
              <a:t>using</a:t>
            </a:r>
            <a:r>
              <a:rPr spc="-320" dirty="0"/>
              <a:t> </a:t>
            </a:r>
            <a:r>
              <a:rPr spc="-10" dirty="0"/>
              <a:t>dustbins.</a:t>
            </a:r>
          </a:p>
          <a:p>
            <a:pPr marL="12700" marR="476250">
              <a:lnSpc>
                <a:spcPct val="115500"/>
              </a:lnSpc>
              <a:spcBef>
                <a:spcPts val="5"/>
              </a:spcBef>
            </a:pPr>
            <a:r>
              <a:rPr spc="-175" dirty="0"/>
              <a:t>To</a:t>
            </a:r>
            <a:r>
              <a:rPr spc="-310" dirty="0"/>
              <a:t> </a:t>
            </a:r>
            <a:r>
              <a:rPr spc="-85" dirty="0"/>
              <a:t>encourage</a:t>
            </a:r>
            <a:r>
              <a:rPr spc="-310" dirty="0"/>
              <a:t> </a:t>
            </a:r>
            <a:r>
              <a:rPr spc="-60" dirty="0"/>
              <a:t>community</a:t>
            </a:r>
            <a:r>
              <a:rPr spc="-310" dirty="0"/>
              <a:t> </a:t>
            </a:r>
            <a:r>
              <a:rPr spc="-25" dirty="0"/>
              <a:t>participation</a:t>
            </a:r>
            <a:r>
              <a:rPr spc="-310" dirty="0"/>
              <a:t> </a:t>
            </a:r>
            <a:r>
              <a:rPr spc="-45" dirty="0"/>
              <a:t>in</a:t>
            </a:r>
            <a:r>
              <a:rPr spc="-310" dirty="0"/>
              <a:t> </a:t>
            </a:r>
            <a:r>
              <a:rPr spc="-95" dirty="0"/>
              <a:t>maintaining</a:t>
            </a:r>
            <a:r>
              <a:rPr spc="-310" dirty="0"/>
              <a:t> </a:t>
            </a:r>
            <a:r>
              <a:rPr spc="-165" dirty="0"/>
              <a:t>a</a:t>
            </a:r>
            <a:r>
              <a:rPr spc="-310" dirty="0"/>
              <a:t> </a:t>
            </a:r>
            <a:r>
              <a:rPr spc="-35" dirty="0"/>
              <a:t>clean</a:t>
            </a:r>
            <a:r>
              <a:rPr spc="-310" dirty="0"/>
              <a:t> </a:t>
            </a:r>
            <a:r>
              <a:rPr spc="-55" dirty="0"/>
              <a:t>and</a:t>
            </a:r>
            <a:r>
              <a:rPr spc="-310" dirty="0"/>
              <a:t> </a:t>
            </a:r>
            <a:r>
              <a:rPr spc="-10" dirty="0"/>
              <a:t>healthy environment.</a:t>
            </a:r>
          </a:p>
          <a:p>
            <a:pPr marL="12700" marR="608330">
              <a:lnSpc>
                <a:spcPct val="115500"/>
              </a:lnSpc>
            </a:pPr>
            <a:r>
              <a:rPr spc="-175" dirty="0"/>
              <a:t>To</a:t>
            </a:r>
            <a:r>
              <a:rPr spc="-320" dirty="0"/>
              <a:t> </a:t>
            </a:r>
            <a:r>
              <a:rPr spc="-45" dirty="0"/>
              <a:t>promote</a:t>
            </a:r>
            <a:r>
              <a:rPr spc="-320" dirty="0"/>
              <a:t> </a:t>
            </a:r>
            <a:r>
              <a:rPr spc="-165" dirty="0"/>
              <a:t>a</a:t>
            </a:r>
            <a:r>
              <a:rPr spc="-315" dirty="0"/>
              <a:t> </a:t>
            </a:r>
            <a:r>
              <a:rPr spc="-85" dirty="0"/>
              <a:t>sense</a:t>
            </a:r>
            <a:r>
              <a:rPr spc="-320" dirty="0"/>
              <a:t> </a:t>
            </a:r>
            <a:r>
              <a:rPr spc="50" dirty="0"/>
              <a:t>of</a:t>
            </a:r>
            <a:r>
              <a:rPr spc="-320" dirty="0"/>
              <a:t> </a:t>
            </a:r>
            <a:r>
              <a:rPr spc="-25" dirty="0"/>
              <a:t>social</a:t>
            </a:r>
            <a:r>
              <a:rPr spc="-315" dirty="0"/>
              <a:t> </a:t>
            </a:r>
            <a:r>
              <a:rPr spc="-30" dirty="0"/>
              <a:t>responsibility</a:t>
            </a:r>
            <a:r>
              <a:rPr spc="-320" dirty="0"/>
              <a:t> </a:t>
            </a:r>
            <a:r>
              <a:rPr spc="-55" dirty="0"/>
              <a:t>and</a:t>
            </a:r>
            <a:r>
              <a:rPr spc="-320" dirty="0"/>
              <a:t> </a:t>
            </a:r>
            <a:r>
              <a:rPr spc="-125" dirty="0"/>
              <a:t>teamwork</a:t>
            </a:r>
            <a:r>
              <a:rPr spc="-315" dirty="0"/>
              <a:t> </a:t>
            </a:r>
            <a:r>
              <a:rPr spc="-135" dirty="0"/>
              <a:t>among</a:t>
            </a:r>
            <a:r>
              <a:rPr spc="-320" dirty="0"/>
              <a:t> </a:t>
            </a:r>
            <a:r>
              <a:rPr spc="-10" dirty="0"/>
              <a:t>citizens </a:t>
            </a:r>
            <a:r>
              <a:rPr spc="-55" dirty="0"/>
              <a:t>and</a:t>
            </a:r>
            <a:r>
              <a:rPr spc="-310" dirty="0"/>
              <a:t> </a:t>
            </a:r>
            <a:r>
              <a:rPr spc="-40" dirty="0"/>
              <a:t>students</a:t>
            </a:r>
            <a:r>
              <a:rPr spc="-305" dirty="0"/>
              <a:t> </a:t>
            </a:r>
            <a:r>
              <a:rPr spc="-75" dirty="0"/>
              <a:t>through</a:t>
            </a:r>
            <a:r>
              <a:rPr spc="-305" dirty="0"/>
              <a:t> </a:t>
            </a:r>
            <a:r>
              <a:rPr spc="-35" dirty="0"/>
              <a:t>this</a:t>
            </a:r>
            <a:r>
              <a:rPr spc="-305" dirty="0"/>
              <a:t> </a:t>
            </a:r>
            <a:r>
              <a:rPr spc="-60" dirty="0"/>
              <a:t>community</a:t>
            </a:r>
            <a:r>
              <a:rPr spc="-305" dirty="0"/>
              <a:t> </a:t>
            </a:r>
            <a:r>
              <a:rPr spc="-55" dirty="0"/>
              <a:t>service</a:t>
            </a:r>
            <a:r>
              <a:rPr spc="-305" dirty="0"/>
              <a:t> </a:t>
            </a:r>
            <a:r>
              <a:rPr spc="-10" dirty="0"/>
              <a:t>activity.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3137" y="4532943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3137" y="5694993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3137" y="6857043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3137" y="8019093"/>
            <a:ext cx="152400" cy="152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33217" y="4383404"/>
            <a:ext cx="442595" cy="383540"/>
          </a:xfrm>
          <a:custGeom>
            <a:avLst/>
            <a:gdLst/>
            <a:ahLst/>
            <a:cxnLst/>
            <a:rect l="l" t="t" r="r" b="b"/>
            <a:pathLst>
              <a:path w="442594" h="383539">
                <a:moveTo>
                  <a:pt x="332100" y="383470"/>
                </a:moveTo>
                <a:lnTo>
                  <a:pt x="110742" y="383470"/>
                </a:lnTo>
                <a:lnTo>
                  <a:pt x="0" y="191767"/>
                </a:lnTo>
                <a:lnTo>
                  <a:pt x="110742" y="0"/>
                </a:lnTo>
                <a:lnTo>
                  <a:pt x="332100" y="0"/>
                </a:lnTo>
                <a:lnTo>
                  <a:pt x="442329" y="190878"/>
                </a:lnTo>
                <a:lnTo>
                  <a:pt x="442329" y="192655"/>
                </a:lnTo>
                <a:lnTo>
                  <a:pt x="332100" y="383470"/>
                </a:lnTo>
                <a:close/>
              </a:path>
            </a:pathLst>
          </a:custGeom>
          <a:solidFill>
            <a:srgbClr val="A066C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1298" y="4511735"/>
            <a:ext cx="2886074" cy="2000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817184" y="4421476"/>
            <a:ext cx="442595" cy="383540"/>
          </a:xfrm>
          <a:custGeom>
            <a:avLst/>
            <a:gdLst/>
            <a:ahLst/>
            <a:cxnLst/>
            <a:rect l="l" t="t" r="r" b="b"/>
            <a:pathLst>
              <a:path w="442595" h="383539">
                <a:moveTo>
                  <a:pt x="332100" y="383508"/>
                </a:moveTo>
                <a:lnTo>
                  <a:pt x="110742" y="383508"/>
                </a:lnTo>
                <a:lnTo>
                  <a:pt x="0" y="191767"/>
                </a:lnTo>
                <a:lnTo>
                  <a:pt x="110742" y="0"/>
                </a:lnTo>
                <a:lnTo>
                  <a:pt x="332100" y="0"/>
                </a:lnTo>
                <a:lnTo>
                  <a:pt x="442373" y="190954"/>
                </a:lnTo>
                <a:lnTo>
                  <a:pt x="442373" y="192579"/>
                </a:lnTo>
                <a:lnTo>
                  <a:pt x="332100" y="383508"/>
                </a:lnTo>
                <a:close/>
              </a:path>
            </a:pathLst>
          </a:custGeom>
          <a:solidFill>
            <a:srgbClr val="A066C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6581" y="4511735"/>
            <a:ext cx="2886074" cy="20002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2254292" y="4383404"/>
            <a:ext cx="442595" cy="383540"/>
          </a:xfrm>
          <a:custGeom>
            <a:avLst/>
            <a:gdLst/>
            <a:ahLst/>
            <a:cxnLst/>
            <a:rect l="l" t="t" r="r" b="b"/>
            <a:pathLst>
              <a:path w="442595" h="383539">
                <a:moveTo>
                  <a:pt x="332099" y="383470"/>
                </a:moveTo>
                <a:lnTo>
                  <a:pt x="110742" y="383470"/>
                </a:lnTo>
                <a:lnTo>
                  <a:pt x="0" y="191767"/>
                </a:lnTo>
                <a:lnTo>
                  <a:pt x="110742" y="0"/>
                </a:lnTo>
                <a:lnTo>
                  <a:pt x="332099" y="0"/>
                </a:lnTo>
                <a:lnTo>
                  <a:pt x="442329" y="190878"/>
                </a:lnTo>
                <a:lnTo>
                  <a:pt x="442329" y="192656"/>
                </a:lnTo>
                <a:lnTo>
                  <a:pt x="332099" y="383470"/>
                </a:lnTo>
                <a:close/>
              </a:path>
            </a:pathLst>
          </a:custGeom>
          <a:solidFill>
            <a:srgbClr val="A066C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67207" y="4549835"/>
            <a:ext cx="2886074" cy="2000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685544" y="5252975"/>
            <a:ext cx="277241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spc="-30" dirty="0">
                <a:solidFill>
                  <a:srgbClr val="1736B1"/>
                </a:solidFill>
                <a:latin typeface="Trebuchet MS"/>
                <a:cs typeface="Trebuchet MS"/>
              </a:rPr>
              <a:t>Survey</a:t>
            </a:r>
            <a:r>
              <a:rPr sz="2900" b="1" spc="-175" dirty="0">
                <a:solidFill>
                  <a:srgbClr val="1736B1"/>
                </a:solidFill>
                <a:latin typeface="Trebuchet MS"/>
                <a:cs typeface="Trebuchet MS"/>
              </a:rPr>
              <a:t> </a:t>
            </a:r>
            <a:r>
              <a:rPr sz="2900" b="1" spc="-40" dirty="0">
                <a:solidFill>
                  <a:srgbClr val="1736B1"/>
                </a:solidFill>
                <a:latin typeface="Trebuchet MS"/>
                <a:cs typeface="Trebuchet MS"/>
              </a:rPr>
              <a:t>Findings:</a:t>
            </a:r>
            <a:endParaRPr sz="29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9575" y="6733755"/>
            <a:ext cx="123825" cy="1238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9575" y="8162505"/>
            <a:ext cx="123825" cy="12382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420650" y="5176091"/>
            <a:ext cx="3936365" cy="32594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68325">
              <a:lnSpc>
                <a:spcPct val="116399"/>
              </a:lnSpc>
              <a:spcBef>
                <a:spcPts val="100"/>
              </a:spcBef>
            </a:pPr>
            <a:r>
              <a:rPr sz="2900" dirty="0">
                <a:solidFill>
                  <a:srgbClr val="1736B1"/>
                </a:solidFill>
                <a:latin typeface="Trebuchet MS"/>
                <a:cs typeface="Trebuchet MS"/>
              </a:rPr>
              <a:t>How</a:t>
            </a:r>
            <a:r>
              <a:rPr sz="2900" spc="-100" dirty="0">
                <a:solidFill>
                  <a:srgbClr val="1736B1"/>
                </a:solidFill>
                <a:latin typeface="Trebuchet MS"/>
                <a:cs typeface="Trebuchet MS"/>
              </a:rPr>
              <a:t> </a:t>
            </a:r>
            <a:r>
              <a:rPr sz="2900" dirty="0">
                <a:solidFill>
                  <a:srgbClr val="1736B1"/>
                </a:solidFill>
                <a:latin typeface="Trebuchet MS"/>
                <a:cs typeface="Trebuchet MS"/>
              </a:rPr>
              <a:t>the</a:t>
            </a:r>
            <a:r>
              <a:rPr sz="2900" spc="-100" dirty="0">
                <a:solidFill>
                  <a:srgbClr val="1736B1"/>
                </a:solidFill>
                <a:latin typeface="Trebuchet MS"/>
                <a:cs typeface="Trebuchet MS"/>
              </a:rPr>
              <a:t> </a:t>
            </a:r>
            <a:r>
              <a:rPr sz="2900" spc="55" dirty="0">
                <a:solidFill>
                  <a:srgbClr val="1736B1"/>
                </a:solidFill>
                <a:latin typeface="Trebuchet MS"/>
                <a:cs typeface="Trebuchet MS"/>
              </a:rPr>
              <a:t>Survey</a:t>
            </a:r>
            <a:r>
              <a:rPr sz="2900" spc="-95" dirty="0">
                <a:solidFill>
                  <a:srgbClr val="1736B1"/>
                </a:solidFill>
                <a:latin typeface="Trebuchet MS"/>
                <a:cs typeface="Trebuchet MS"/>
              </a:rPr>
              <a:t> </a:t>
            </a:r>
            <a:r>
              <a:rPr sz="2900" spc="35" dirty="0">
                <a:solidFill>
                  <a:srgbClr val="1736B1"/>
                </a:solidFill>
                <a:latin typeface="Trebuchet MS"/>
                <a:cs typeface="Trebuchet MS"/>
              </a:rPr>
              <a:t>was </a:t>
            </a:r>
            <a:r>
              <a:rPr sz="2900" spc="-10" dirty="0">
                <a:solidFill>
                  <a:srgbClr val="1736B1"/>
                </a:solidFill>
                <a:latin typeface="Trebuchet MS"/>
                <a:cs typeface="Trebuchet MS"/>
              </a:rPr>
              <a:t>Conducted:</a:t>
            </a:r>
            <a:endParaRPr sz="2900">
              <a:latin typeface="Trebuchet MS"/>
              <a:cs typeface="Trebuchet MS"/>
            </a:endParaRPr>
          </a:p>
          <a:p>
            <a:pPr marL="603250" marR="5080">
              <a:lnSpc>
                <a:spcPct val="115700"/>
              </a:lnSpc>
              <a:spcBef>
                <a:spcPts val="2355"/>
              </a:spcBef>
            </a:pPr>
            <a:r>
              <a:rPr sz="2700" dirty="0">
                <a:latin typeface="Verdana"/>
                <a:cs typeface="Verdana"/>
              </a:rPr>
              <a:t>Conducted</a:t>
            </a:r>
            <a:r>
              <a:rPr sz="2700" spc="60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through </a:t>
            </a:r>
            <a:r>
              <a:rPr sz="2700" dirty="0">
                <a:latin typeface="Verdana"/>
                <a:cs typeface="Verdana"/>
              </a:rPr>
              <a:t>door-</a:t>
            </a:r>
            <a:r>
              <a:rPr sz="2700" spc="-30" dirty="0">
                <a:latin typeface="Verdana"/>
                <a:cs typeface="Verdana"/>
              </a:rPr>
              <a:t>to-</a:t>
            </a:r>
            <a:r>
              <a:rPr sz="2700" spc="-20" dirty="0">
                <a:latin typeface="Verdana"/>
                <a:cs typeface="Verdana"/>
              </a:rPr>
              <a:t>door </a:t>
            </a:r>
            <a:r>
              <a:rPr sz="2700" spc="-10" dirty="0">
                <a:latin typeface="Verdana"/>
                <a:cs typeface="Verdana"/>
              </a:rPr>
              <a:t>interactions.</a:t>
            </a:r>
            <a:endParaRPr sz="2700">
              <a:latin typeface="Verdana"/>
              <a:cs typeface="Verdana"/>
            </a:endParaRPr>
          </a:p>
          <a:p>
            <a:pPr marL="603250">
              <a:lnSpc>
                <a:spcPct val="100000"/>
              </a:lnSpc>
              <a:spcBef>
                <a:spcPts val="509"/>
              </a:spcBef>
            </a:pPr>
            <a:r>
              <a:rPr sz="2700" spc="-40" dirty="0">
                <a:latin typeface="Verdana"/>
                <a:cs typeface="Verdana"/>
              </a:rPr>
              <a:t>Location:</a:t>
            </a:r>
            <a:r>
              <a:rPr sz="2700" spc="-175" dirty="0">
                <a:latin typeface="Verdana"/>
                <a:cs typeface="Verdana"/>
              </a:rPr>
              <a:t> </a:t>
            </a:r>
            <a:r>
              <a:rPr sz="2700" spc="-10" dirty="0">
                <a:latin typeface="Verdana"/>
                <a:cs typeface="Verdana"/>
              </a:rPr>
              <a:t>Vempadu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93114" y="803394"/>
            <a:ext cx="4517390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00" b="1" dirty="0">
                <a:latin typeface="Trebuchet MS"/>
                <a:cs typeface="Trebuchet MS"/>
              </a:rPr>
              <a:t>Purpose</a:t>
            </a:r>
            <a:r>
              <a:rPr sz="3400" b="1" spc="-145" dirty="0">
                <a:latin typeface="Trebuchet MS"/>
                <a:cs typeface="Trebuchet MS"/>
              </a:rPr>
              <a:t> </a:t>
            </a:r>
            <a:r>
              <a:rPr sz="3400" b="1" dirty="0">
                <a:latin typeface="Trebuchet MS"/>
                <a:cs typeface="Trebuchet MS"/>
              </a:rPr>
              <a:t>of</a:t>
            </a:r>
            <a:r>
              <a:rPr sz="3400" b="1" spc="-145" dirty="0">
                <a:latin typeface="Trebuchet MS"/>
                <a:cs typeface="Trebuchet MS"/>
              </a:rPr>
              <a:t> </a:t>
            </a:r>
            <a:r>
              <a:rPr sz="3400" b="1" spc="-60" dirty="0">
                <a:latin typeface="Trebuchet MS"/>
                <a:cs typeface="Trebuchet MS"/>
              </a:rPr>
              <a:t>the</a:t>
            </a:r>
            <a:r>
              <a:rPr sz="3400" b="1" spc="-145" dirty="0">
                <a:latin typeface="Trebuchet MS"/>
                <a:cs typeface="Trebuchet MS"/>
              </a:rPr>
              <a:t> </a:t>
            </a:r>
            <a:r>
              <a:rPr sz="3400" b="1" spc="-55" dirty="0">
                <a:latin typeface="Trebuchet MS"/>
                <a:cs typeface="Trebuchet MS"/>
              </a:rPr>
              <a:t>Survey:</a:t>
            </a:r>
            <a:endParaRPr sz="34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399" y="1853818"/>
            <a:ext cx="114300" cy="1142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577230" y="1621395"/>
            <a:ext cx="14971394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75005">
              <a:lnSpc>
                <a:spcPct val="115399"/>
              </a:lnSpc>
              <a:spcBef>
                <a:spcPts val="100"/>
              </a:spcBef>
            </a:pPr>
            <a:r>
              <a:rPr sz="2600" spc="-130" dirty="0">
                <a:latin typeface="Verdana"/>
                <a:cs typeface="Verdana"/>
              </a:rPr>
              <a:t>To</a:t>
            </a:r>
            <a:r>
              <a:rPr sz="2600" spc="-24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identify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35" dirty="0">
                <a:latin typeface="Verdana"/>
                <a:cs typeface="Verdana"/>
              </a:rPr>
              <a:t>the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100" dirty="0">
                <a:latin typeface="Verdana"/>
                <a:cs typeface="Verdana"/>
              </a:rPr>
              <a:t>main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80" dirty="0">
                <a:latin typeface="Verdana"/>
                <a:cs typeface="Verdana"/>
              </a:rPr>
              <a:t>waste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110" dirty="0">
                <a:latin typeface="Verdana"/>
                <a:cs typeface="Verdana"/>
              </a:rPr>
              <a:t>management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40" dirty="0">
                <a:latin typeface="Verdana"/>
                <a:cs typeface="Verdana"/>
              </a:rPr>
              <a:t>problems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90" dirty="0">
                <a:latin typeface="Verdana"/>
                <a:cs typeface="Verdana"/>
              </a:rPr>
              <a:t>like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114" dirty="0">
                <a:latin typeface="Verdana"/>
                <a:cs typeface="Verdana"/>
              </a:rPr>
              <a:t>garbage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40" dirty="0">
                <a:latin typeface="Verdana"/>
                <a:cs typeface="Verdana"/>
              </a:rPr>
              <a:t>accumulation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60" dirty="0">
                <a:latin typeface="Verdana"/>
                <a:cs typeface="Verdana"/>
              </a:rPr>
              <a:t>and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drainage </a:t>
            </a:r>
            <a:r>
              <a:rPr sz="2600" spc="-70" dirty="0">
                <a:latin typeface="Verdana"/>
                <a:cs typeface="Verdana"/>
              </a:rPr>
              <a:t>blockages</a:t>
            </a:r>
            <a:r>
              <a:rPr sz="2600" spc="-250" dirty="0">
                <a:latin typeface="Verdana"/>
                <a:cs typeface="Verdana"/>
              </a:rPr>
              <a:t> </a:t>
            </a:r>
            <a:r>
              <a:rPr sz="2600" spc="-45" dirty="0">
                <a:latin typeface="Verdana"/>
                <a:cs typeface="Verdana"/>
              </a:rPr>
              <a:t>in</a:t>
            </a:r>
            <a:r>
              <a:rPr sz="2600" spc="-245" dirty="0">
                <a:latin typeface="Verdana"/>
                <a:cs typeface="Verdana"/>
              </a:rPr>
              <a:t> </a:t>
            </a:r>
            <a:r>
              <a:rPr sz="2600" spc="-35" dirty="0">
                <a:latin typeface="Verdana"/>
                <a:cs typeface="Verdana"/>
              </a:rPr>
              <a:t>our</a:t>
            </a:r>
            <a:r>
              <a:rPr sz="2600" spc="-24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locality.</a:t>
            </a:r>
            <a:endParaRPr sz="2600">
              <a:latin typeface="Verdana"/>
              <a:cs typeface="Verdana"/>
            </a:endParaRPr>
          </a:p>
          <a:p>
            <a:pPr marL="12700" marR="5080">
              <a:lnSpc>
                <a:spcPct val="115399"/>
              </a:lnSpc>
            </a:pPr>
            <a:r>
              <a:rPr sz="2600" spc="-130" dirty="0">
                <a:latin typeface="Verdana"/>
                <a:cs typeface="Verdana"/>
              </a:rPr>
              <a:t>To</a:t>
            </a:r>
            <a:r>
              <a:rPr sz="2600" spc="-240" dirty="0">
                <a:latin typeface="Verdana"/>
                <a:cs typeface="Verdana"/>
              </a:rPr>
              <a:t> </a:t>
            </a:r>
            <a:r>
              <a:rPr sz="2600" spc="-45" dirty="0">
                <a:latin typeface="Verdana"/>
                <a:cs typeface="Verdana"/>
              </a:rPr>
              <a:t>understand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80" dirty="0">
                <a:latin typeface="Verdana"/>
                <a:cs typeface="Verdana"/>
              </a:rPr>
              <a:t>why</a:t>
            </a:r>
            <a:r>
              <a:rPr sz="2600" spc="-240" dirty="0">
                <a:latin typeface="Verdana"/>
                <a:cs typeface="Verdana"/>
              </a:rPr>
              <a:t> </a:t>
            </a:r>
            <a:r>
              <a:rPr sz="2600" spc="-50" dirty="0">
                <a:latin typeface="Verdana"/>
                <a:cs typeface="Verdana"/>
              </a:rPr>
              <a:t>residents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40" dirty="0">
                <a:latin typeface="Verdana"/>
                <a:cs typeface="Verdana"/>
              </a:rPr>
              <a:t>throw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80" dirty="0">
                <a:latin typeface="Verdana"/>
                <a:cs typeface="Verdana"/>
              </a:rPr>
              <a:t>waste</a:t>
            </a:r>
            <a:r>
              <a:rPr sz="2600" spc="-240" dirty="0">
                <a:latin typeface="Verdana"/>
                <a:cs typeface="Verdana"/>
              </a:rPr>
              <a:t> </a:t>
            </a:r>
            <a:r>
              <a:rPr sz="2600" spc="-30" dirty="0">
                <a:latin typeface="Verdana"/>
                <a:cs typeface="Verdana"/>
              </a:rPr>
              <a:t>outside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60" dirty="0">
                <a:latin typeface="Verdana"/>
                <a:cs typeface="Verdana"/>
              </a:rPr>
              <a:t>and</a:t>
            </a:r>
            <a:r>
              <a:rPr sz="2600" spc="-240" dirty="0">
                <a:latin typeface="Verdana"/>
                <a:cs typeface="Verdana"/>
              </a:rPr>
              <a:t> </a:t>
            </a:r>
            <a:r>
              <a:rPr sz="2600" spc="-35" dirty="0">
                <a:latin typeface="Verdana"/>
                <a:cs typeface="Verdana"/>
              </a:rPr>
              <a:t>their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95" dirty="0">
                <a:latin typeface="Verdana"/>
                <a:cs typeface="Verdana"/>
              </a:rPr>
              <a:t>awareness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35" dirty="0">
                <a:latin typeface="Verdana"/>
                <a:cs typeface="Verdana"/>
              </a:rPr>
              <a:t>level</a:t>
            </a:r>
            <a:r>
              <a:rPr sz="2600" spc="-240" dirty="0">
                <a:latin typeface="Verdana"/>
                <a:cs typeface="Verdana"/>
              </a:rPr>
              <a:t> </a:t>
            </a:r>
            <a:r>
              <a:rPr sz="2600" spc="-30" dirty="0">
                <a:latin typeface="Verdana"/>
                <a:cs typeface="Verdana"/>
              </a:rPr>
              <a:t>about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cleanliness. </a:t>
            </a:r>
            <a:r>
              <a:rPr sz="2600" spc="-130" dirty="0">
                <a:latin typeface="Verdana"/>
                <a:cs typeface="Verdana"/>
              </a:rPr>
              <a:t>To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35" dirty="0">
                <a:latin typeface="Verdana"/>
                <a:cs typeface="Verdana"/>
              </a:rPr>
              <a:t>promote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25" dirty="0">
                <a:latin typeface="Verdana"/>
                <a:cs typeface="Verdana"/>
              </a:rPr>
              <a:t>proper</a:t>
            </a:r>
            <a:r>
              <a:rPr sz="2600" spc="-229" dirty="0">
                <a:latin typeface="Verdana"/>
                <a:cs typeface="Verdana"/>
              </a:rPr>
              <a:t> </a:t>
            </a:r>
            <a:r>
              <a:rPr sz="2600" spc="-80" dirty="0">
                <a:latin typeface="Verdana"/>
                <a:cs typeface="Verdana"/>
              </a:rPr>
              <a:t>waste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30" dirty="0">
                <a:latin typeface="Verdana"/>
                <a:cs typeface="Verdana"/>
              </a:rPr>
              <a:t>disposal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45" dirty="0">
                <a:latin typeface="Verdana"/>
                <a:cs typeface="Verdana"/>
              </a:rPr>
              <a:t>habits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60" dirty="0">
                <a:latin typeface="Verdana"/>
                <a:cs typeface="Verdana"/>
              </a:rPr>
              <a:t>and</a:t>
            </a:r>
            <a:r>
              <a:rPr sz="2600" spc="-229" dirty="0">
                <a:latin typeface="Verdana"/>
                <a:cs typeface="Verdana"/>
              </a:rPr>
              <a:t> </a:t>
            </a:r>
            <a:r>
              <a:rPr sz="2600" spc="-50" dirty="0">
                <a:latin typeface="Verdana"/>
                <a:cs typeface="Verdana"/>
              </a:rPr>
              <a:t>create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95" dirty="0">
                <a:latin typeface="Verdana"/>
                <a:cs typeface="Verdana"/>
              </a:rPr>
              <a:t>awareness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20" dirty="0">
                <a:latin typeface="Verdana"/>
                <a:cs typeface="Verdana"/>
              </a:rPr>
              <a:t>on</a:t>
            </a:r>
            <a:r>
              <a:rPr sz="2600" spc="-229" dirty="0">
                <a:latin typeface="Verdana"/>
                <a:cs typeface="Verdana"/>
              </a:rPr>
              <a:t> </a:t>
            </a:r>
            <a:r>
              <a:rPr sz="2600" spc="-90" dirty="0">
                <a:latin typeface="Verdana"/>
                <a:cs typeface="Verdana"/>
              </a:rPr>
              <a:t>using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35" dirty="0">
                <a:latin typeface="Verdana"/>
                <a:cs typeface="Verdana"/>
              </a:rPr>
              <a:t>dustbins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-25" dirty="0">
                <a:latin typeface="Verdana"/>
                <a:cs typeface="Verdana"/>
              </a:rPr>
              <a:t>and </a:t>
            </a:r>
            <a:r>
              <a:rPr sz="2600" spc="-85" dirty="0">
                <a:latin typeface="Verdana"/>
                <a:cs typeface="Verdana"/>
              </a:rPr>
              <a:t>maintaining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hygiene.</a:t>
            </a:r>
            <a:endParaRPr sz="260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399" y="2768218"/>
            <a:ext cx="114300" cy="1142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399" y="3225418"/>
            <a:ext cx="114300" cy="1142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1417" y="6234909"/>
            <a:ext cx="123825" cy="12382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1417" y="7720809"/>
            <a:ext cx="123825" cy="12382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1417" y="8711409"/>
            <a:ext cx="123825" cy="12382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025988" y="5254510"/>
            <a:ext cx="4411345" cy="47123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dirty="0">
                <a:solidFill>
                  <a:srgbClr val="1736B1"/>
                </a:solidFill>
                <a:latin typeface="Trebuchet MS"/>
                <a:cs typeface="Trebuchet MS"/>
              </a:rPr>
              <a:t>Key</a:t>
            </a:r>
            <a:r>
              <a:rPr sz="3000" spc="-40" dirty="0">
                <a:solidFill>
                  <a:srgbClr val="1736B1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1736B1"/>
                </a:solidFill>
                <a:latin typeface="Trebuchet MS"/>
                <a:cs typeface="Trebuchet MS"/>
              </a:rPr>
              <a:t>Questions:</a:t>
            </a:r>
            <a:endParaRPr sz="3000">
              <a:latin typeface="Trebuchet MS"/>
              <a:cs typeface="Trebuchet MS"/>
            </a:endParaRPr>
          </a:p>
          <a:p>
            <a:pPr marL="529590" marR="1022985" indent="-6350">
              <a:lnSpc>
                <a:spcPct val="116100"/>
              </a:lnSpc>
              <a:spcBef>
                <a:spcPts val="2110"/>
              </a:spcBef>
            </a:pPr>
            <a:r>
              <a:rPr sz="2800" spc="-70" dirty="0">
                <a:latin typeface="Verdana"/>
                <a:cs typeface="Verdana"/>
              </a:rPr>
              <a:t>Are</a:t>
            </a:r>
            <a:r>
              <a:rPr sz="2800" spc="-270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you</a:t>
            </a:r>
            <a:r>
              <a:rPr sz="2800" spc="-270" dirty="0">
                <a:latin typeface="Verdana"/>
                <a:cs typeface="Verdana"/>
              </a:rPr>
              <a:t> </a:t>
            </a:r>
            <a:r>
              <a:rPr sz="2800" spc="-120" dirty="0">
                <a:latin typeface="Verdana"/>
                <a:cs typeface="Verdana"/>
              </a:rPr>
              <a:t>aware</a:t>
            </a:r>
            <a:r>
              <a:rPr sz="2800" spc="-27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of </a:t>
            </a:r>
            <a:r>
              <a:rPr sz="2800" spc="-35" dirty="0">
                <a:latin typeface="Verdana"/>
                <a:cs typeface="Verdana"/>
              </a:rPr>
              <a:t>the</a:t>
            </a:r>
            <a:r>
              <a:rPr sz="2800" spc="-229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concept</a:t>
            </a:r>
            <a:r>
              <a:rPr sz="2800" spc="-229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of</a:t>
            </a:r>
            <a:endParaRPr sz="2800">
              <a:latin typeface="Verdana"/>
              <a:cs typeface="Verdana"/>
            </a:endParaRPr>
          </a:p>
          <a:p>
            <a:pPr marL="523875" marR="5080" indent="5715">
              <a:lnSpc>
                <a:spcPct val="116100"/>
              </a:lnSpc>
            </a:pPr>
            <a:r>
              <a:rPr sz="2800" spc="-85" dirty="0">
                <a:latin typeface="Verdana"/>
                <a:cs typeface="Verdana"/>
              </a:rPr>
              <a:t>waste</a:t>
            </a:r>
            <a:r>
              <a:rPr sz="2800" spc="-254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decomposition </a:t>
            </a:r>
            <a:r>
              <a:rPr sz="2800" spc="-25" dirty="0">
                <a:latin typeface="Verdana"/>
                <a:cs typeface="Verdana"/>
              </a:rPr>
              <a:t>Do</a:t>
            </a:r>
            <a:r>
              <a:rPr sz="2800" spc="-265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you</a:t>
            </a:r>
            <a:r>
              <a:rPr sz="2800" spc="-26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separate</a:t>
            </a:r>
            <a:r>
              <a:rPr sz="2800" spc="-26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wet </a:t>
            </a:r>
            <a:r>
              <a:rPr sz="2800" spc="-85" dirty="0">
                <a:latin typeface="Verdana"/>
                <a:cs typeface="Verdana"/>
              </a:rPr>
              <a:t>waste</a:t>
            </a:r>
            <a:r>
              <a:rPr sz="2800" spc="-270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and</a:t>
            </a:r>
            <a:r>
              <a:rPr sz="2800" spc="-270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dry</a:t>
            </a:r>
            <a:r>
              <a:rPr sz="2800" spc="-27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waste? </a:t>
            </a:r>
            <a:r>
              <a:rPr sz="2800" spc="-25" dirty="0">
                <a:latin typeface="Verdana"/>
                <a:cs typeface="Verdana"/>
              </a:rPr>
              <a:t>Do</a:t>
            </a:r>
            <a:r>
              <a:rPr sz="2800" spc="-280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you</a:t>
            </a:r>
            <a:r>
              <a:rPr sz="2800" spc="-28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face</a:t>
            </a:r>
            <a:r>
              <a:rPr sz="2800" spc="-280" dirty="0">
                <a:latin typeface="Verdana"/>
                <a:cs typeface="Verdana"/>
              </a:rPr>
              <a:t> </a:t>
            </a:r>
            <a:r>
              <a:rPr sz="2800" spc="-105" dirty="0">
                <a:latin typeface="Verdana"/>
                <a:cs typeface="Verdana"/>
              </a:rPr>
              <a:t>any</a:t>
            </a:r>
            <a:r>
              <a:rPr sz="2800" spc="-280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issues </a:t>
            </a:r>
            <a:r>
              <a:rPr sz="2800" spc="-40" dirty="0">
                <a:latin typeface="Verdana"/>
                <a:cs typeface="Verdana"/>
              </a:rPr>
              <a:t>with</a:t>
            </a:r>
            <a:r>
              <a:rPr sz="2800" spc="-260" dirty="0">
                <a:latin typeface="Verdana"/>
                <a:cs typeface="Verdana"/>
              </a:rPr>
              <a:t> </a:t>
            </a:r>
            <a:r>
              <a:rPr sz="2800" spc="-85" dirty="0">
                <a:latin typeface="Verdana"/>
                <a:cs typeface="Verdana"/>
              </a:rPr>
              <a:t>waste</a:t>
            </a:r>
            <a:r>
              <a:rPr sz="2800" spc="-26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collection </a:t>
            </a:r>
            <a:r>
              <a:rPr sz="2800" spc="-40" dirty="0">
                <a:latin typeface="Verdana"/>
                <a:cs typeface="Verdana"/>
              </a:rPr>
              <a:t>in</a:t>
            </a:r>
            <a:r>
              <a:rPr sz="2800" spc="-285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your</a:t>
            </a:r>
            <a:r>
              <a:rPr sz="2800" spc="-28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areas?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82784" y="6307302"/>
            <a:ext cx="123825" cy="12382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3288725" y="6051390"/>
            <a:ext cx="4269105" cy="398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0340">
              <a:lnSpc>
                <a:spcPct val="116100"/>
              </a:lnSpc>
              <a:spcBef>
                <a:spcPts val="100"/>
              </a:spcBef>
            </a:pPr>
            <a:r>
              <a:rPr sz="2800" spc="-40" dirty="0">
                <a:latin typeface="Verdana"/>
                <a:cs typeface="Verdana"/>
              </a:rPr>
              <a:t>Many</a:t>
            </a:r>
            <a:r>
              <a:rPr sz="2800" spc="-254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residents</a:t>
            </a:r>
            <a:r>
              <a:rPr sz="2800" spc="-254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do</a:t>
            </a:r>
            <a:r>
              <a:rPr sz="2800" spc="-254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not </a:t>
            </a:r>
            <a:r>
              <a:rPr sz="2800" spc="-105" dirty="0">
                <a:latin typeface="Verdana"/>
                <a:cs typeface="Verdana"/>
              </a:rPr>
              <a:t>have</a:t>
            </a:r>
            <a:r>
              <a:rPr sz="2800" spc="-26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dustbins</a:t>
            </a:r>
            <a:r>
              <a:rPr sz="2800" spc="-254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at</a:t>
            </a:r>
            <a:r>
              <a:rPr sz="2800" spc="-254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home, </a:t>
            </a:r>
            <a:r>
              <a:rPr sz="2800" spc="-35" dirty="0">
                <a:latin typeface="Verdana"/>
                <a:cs typeface="Verdana"/>
              </a:rPr>
              <a:t>which</a:t>
            </a:r>
            <a:r>
              <a:rPr sz="2800" spc="-260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leads</a:t>
            </a:r>
            <a:r>
              <a:rPr sz="2800" spc="-2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260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throwing </a:t>
            </a:r>
            <a:r>
              <a:rPr sz="2800" spc="-85" dirty="0">
                <a:latin typeface="Verdana"/>
                <a:cs typeface="Verdana"/>
              </a:rPr>
              <a:t>waste</a:t>
            </a:r>
            <a:r>
              <a:rPr sz="2800" spc="-265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outside</a:t>
            </a:r>
            <a:r>
              <a:rPr sz="2800" spc="-260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and</a:t>
            </a:r>
            <a:r>
              <a:rPr sz="2800" spc="-26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poor </a:t>
            </a:r>
            <a:r>
              <a:rPr sz="2800" spc="-10" dirty="0">
                <a:latin typeface="Verdana"/>
                <a:cs typeface="Verdana"/>
              </a:rPr>
              <a:t>sanitation.</a:t>
            </a:r>
            <a:endParaRPr sz="2800">
              <a:latin typeface="Verdana"/>
              <a:cs typeface="Verdana"/>
            </a:endParaRPr>
          </a:p>
          <a:p>
            <a:pPr marL="12700" marR="5080">
              <a:lnSpc>
                <a:spcPct val="116100"/>
              </a:lnSpc>
            </a:pPr>
            <a:r>
              <a:rPr sz="2800" spc="-280" dirty="0">
                <a:latin typeface="Verdana"/>
                <a:cs typeface="Verdana"/>
              </a:rPr>
              <a:t>65%</a:t>
            </a:r>
            <a:r>
              <a:rPr sz="2800" spc="-2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245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residents</a:t>
            </a:r>
            <a:r>
              <a:rPr sz="2800" spc="-24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were </a:t>
            </a:r>
            <a:r>
              <a:rPr sz="2800" spc="-105" dirty="0">
                <a:latin typeface="Verdana"/>
                <a:cs typeface="Verdana"/>
              </a:rPr>
              <a:t>unaware</a:t>
            </a:r>
            <a:r>
              <a:rPr sz="2800" spc="-2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24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proper</a:t>
            </a:r>
            <a:r>
              <a:rPr sz="2800" spc="-240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waste </a:t>
            </a:r>
            <a:r>
              <a:rPr sz="2800" spc="-95" dirty="0">
                <a:latin typeface="Verdana"/>
                <a:cs typeface="Verdana"/>
              </a:rPr>
              <a:t>segregation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practices.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82784" y="8783802"/>
            <a:ext cx="123825" cy="1238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4549" y="2631331"/>
            <a:ext cx="10639424" cy="6172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5720" rIns="0" bIns="0" rtlCol="0">
            <a:spAutoFit/>
          </a:bodyPr>
          <a:lstStyle/>
          <a:p>
            <a:pPr marL="2492375">
              <a:lnSpc>
                <a:spcPct val="100000"/>
              </a:lnSpc>
              <a:spcBef>
                <a:spcPts val="100"/>
              </a:spcBef>
            </a:pPr>
            <a:r>
              <a:rPr sz="7800" spc="-440" dirty="0"/>
              <a:t>Survey</a:t>
            </a:r>
            <a:r>
              <a:rPr sz="7800" spc="-740" dirty="0"/>
              <a:t> </a:t>
            </a:r>
            <a:r>
              <a:rPr sz="7800" spc="-415" dirty="0"/>
              <a:t>Activity</a:t>
            </a:r>
            <a:r>
              <a:rPr sz="7800" spc="-735" dirty="0"/>
              <a:t> </a:t>
            </a:r>
            <a:r>
              <a:rPr sz="7800" spc="-509" dirty="0"/>
              <a:t>Snapshot</a:t>
            </a:r>
            <a:endParaRPr sz="7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55661" y="1524755"/>
            <a:ext cx="9083675" cy="6229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520"/>
              </a:lnSpc>
            </a:pPr>
            <a:r>
              <a:rPr sz="3100" b="1" spc="-10" dirty="0">
                <a:latin typeface="Trebuchet MS"/>
                <a:cs typeface="Trebuchet MS"/>
              </a:rPr>
              <a:t>Activity</a:t>
            </a:r>
            <a:endParaRPr sz="3100" dirty="0">
              <a:latin typeface="Trebuchet MS"/>
              <a:cs typeface="Trebuchet MS"/>
            </a:endParaRPr>
          </a:p>
          <a:p>
            <a:pPr marL="60960" marR="53340" algn="ctr">
              <a:lnSpc>
                <a:spcPct val="115100"/>
              </a:lnSpc>
              <a:spcBef>
                <a:spcPts val="2660"/>
              </a:spcBef>
            </a:pPr>
            <a:r>
              <a:rPr sz="1900" dirty="0">
                <a:latin typeface="Trebuchet MS"/>
                <a:cs typeface="Trebuchet MS"/>
              </a:rPr>
              <a:t>Visited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Vempadu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Community,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interacted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with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residents,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50" dirty="0">
                <a:latin typeface="Trebuchet MS"/>
                <a:cs typeface="Trebuchet MS"/>
              </a:rPr>
              <a:t>and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conducted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surveys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45" dirty="0">
                <a:latin typeface="Trebuchet MS"/>
                <a:cs typeface="Trebuchet MS"/>
              </a:rPr>
              <a:t>on </a:t>
            </a:r>
            <a:r>
              <a:rPr sz="1900" dirty="0">
                <a:latin typeface="Trebuchet MS"/>
                <a:cs typeface="Trebuchet MS"/>
              </a:rPr>
              <a:t>sanitation</a:t>
            </a:r>
            <a:r>
              <a:rPr sz="1900" spc="15" dirty="0">
                <a:latin typeface="Trebuchet MS"/>
                <a:cs typeface="Trebuchet MS"/>
              </a:rPr>
              <a:t> </a:t>
            </a:r>
            <a:r>
              <a:rPr sz="1900" spc="50" dirty="0">
                <a:latin typeface="Trebuchet MS"/>
                <a:cs typeface="Trebuchet MS"/>
              </a:rPr>
              <a:t>and</a:t>
            </a:r>
            <a:r>
              <a:rPr sz="1900" spc="2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drainage</a:t>
            </a:r>
            <a:r>
              <a:rPr sz="1900" spc="20" dirty="0">
                <a:latin typeface="Trebuchet MS"/>
                <a:cs typeface="Trebuchet MS"/>
              </a:rPr>
              <a:t> </a:t>
            </a:r>
            <a:r>
              <a:rPr sz="1900" spc="45" dirty="0">
                <a:latin typeface="Trebuchet MS"/>
                <a:cs typeface="Trebuchet MS"/>
              </a:rPr>
              <a:t>issues</a:t>
            </a: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00" dirty="0">
              <a:latin typeface="Trebuchet MS"/>
              <a:cs typeface="Trebuchet MS"/>
            </a:endParaRPr>
          </a:p>
          <a:p>
            <a:pPr marL="330835" marR="322580" algn="ctr">
              <a:lnSpc>
                <a:spcPct val="115100"/>
              </a:lnSpc>
            </a:pPr>
            <a:r>
              <a:rPr sz="1900" dirty="0">
                <a:latin typeface="Trebuchet MS"/>
                <a:cs typeface="Trebuchet MS"/>
              </a:rPr>
              <a:t>Continued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survey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in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uncovered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areas,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analysed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50" dirty="0">
                <a:latin typeface="Trebuchet MS"/>
                <a:cs typeface="Trebuchet MS"/>
              </a:rPr>
              <a:t>and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collected</a:t>
            </a:r>
            <a:r>
              <a:rPr sz="1900" spc="-2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data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to</a:t>
            </a:r>
            <a:r>
              <a:rPr sz="1900" spc="-1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identify </a:t>
            </a:r>
            <a:r>
              <a:rPr sz="1900" dirty="0">
                <a:latin typeface="Trebuchet MS"/>
                <a:cs typeface="Trebuchet MS"/>
              </a:rPr>
              <a:t>major</a:t>
            </a:r>
            <a:r>
              <a:rPr sz="1900" spc="-12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issues.</a:t>
            </a: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00" dirty="0">
              <a:latin typeface="Trebuchet MS"/>
              <a:cs typeface="Trebuchet MS"/>
            </a:endParaRPr>
          </a:p>
          <a:p>
            <a:pPr marL="173355" marR="165735" algn="ctr">
              <a:lnSpc>
                <a:spcPct val="115100"/>
              </a:lnSpc>
            </a:pPr>
            <a:r>
              <a:rPr sz="1900" dirty="0">
                <a:latin typeface="Trebuchet MS"/>
                <a:cs typeface="Trebuchet MS"/>
              </a:rPr>
              <a:t>Identified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areas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where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50" dirty="0">
                <a:latin typeface="Trebuchet MS"/>
                <a:cs typeface="Trebuchet MS"/>
              </a:rPr>
              <a:t>household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waste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50" dirty="0">
                <a:latin typeface="Trebuchet MS"/>
                <a:cs typeface="Trebuchet MS"/>
              </a:rPr>
              <a:t>is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being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thrown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openly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instead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of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40" dirty="0">
                <a:latin typeface="Trebuchet MS"/>
                <a:cs typeface="Trebuchet MS"/>
              </a:rPr>
              <a:t>using </a:t>
            </a:r>
            <a:r>
              <a:rPr sz="1900" spc="-10" dirty="0">
                <a:latin typeface="Trebuchet MS"/>
                <a:cs typeface="Trebuchet MS"/>
              </a:rPr>
              <a:t>dustbins.</a:t>
            </a: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00" dirty="0">
              <a:latin typeface="Trebuchet MS"/>
              <a:cs typeface="Trebuchet MS"/>
            </a:endParaRPr>
          </a:p>
          <a:p>
            <a:pPr marL="217804" marR="210185" algn="ctr">
              <a:lnSpc>
                <a:spcPct val="115100"/>
              </a:lnSpc>
            </a:pPr>
            <a:r>
              <a:rPr sz="1900" dirty="0">
                <a:latin typeface="Trebuchet MS"/>
                <a:cs typeface="Trebuchet MS"/>
              </a:rPr>
              <a:t>Met</a:t>
            </a:r>
            <a:r>
              <a:rPr sz="1900" spc="6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village</a:t>
            </a:r>
            <a:r>
              <a:rPr sz="1900" spc="6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residents,</a:t>
            </a:r>
            <a:r>
              <a:rPr sz="1900" spc="6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shared</a:t>
            </a:r>
            <a:r>
              <a:rPr sz="1900" spc="6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survey</a:t>
            </a:r>
            <a:r>
              <a:rPr sz="1900" spc="6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findings,</a:t>
            </a:r>
            <a:r>
              <a:rPr sz="1900" spc="6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discussed</a:t>
            </a:r>
            <a:r>
              <a:rPr sz="1900" spc="6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possible</a:t>
            </a:r>
            <a:r>
              <a:rPr sz="1900" spc="6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solutions,</a:t>
            </a:r>
            <a:r>
              <a:rPr sz="1900" spc="65" dirty="0">
                <a:latin typeface="Trebuchet MS"/>
                <a:cs typeface="Trebuchet MS"/>
              </a:rPr>
              <a:t> </a:t>
            </a:r>
            <a:r>
              <a:rPr sz="1900" spc="25" dirty="0">
                <a:latin typeface="Trebuchet MS"/>
                <a:cs typeface="Trebuchet MS"/>
              </a:rPr>
              <a:t>and </a:t>
            </a:r>
            <a:r>
              <a:rPr sz="1900" dirty="0">
                <a:latin typeface="Trebuchet MS"/>
                <a:cs typeface="Trebuchet MS"/>
              </a:rPr>
              <a:t>planned</a:t>
            </a:r>
            <a:r>
              <a:rPr sz="1900" spc="1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community</a:t>
            </a:r>
            <a:r>
              <a:rPr sz="1900" spc="1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cleanliness</a:t>
            </a:r>
            <a:r>
              <a:rPr sz="1900" spc="12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activities.</a:t>
            </a: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00" dirty="0">
              <a:latin typeface="Trebuchet MS"/>
              <a:cs typeface="Trebuchet MS"/>
            </a:endParaRPr>
          </a:p>
          <a:p>
            <a:pPr algn="ctr">
              <a:lnSpc>
                <a:spcPct val="115100"/>
              </a:lnSpc>
            </a:pPr>
            <a:r>
              <a:rPr sz="1900" dirty="0">
                <a:latin typeface="Trebuchet MS"/>
                <a:cs typeface="Trebuchet MS"/>
              </a:rPr>
              <a:t>Took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part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in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cleanliness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drives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with</a:t>
            </a:r>
            <a:r>
              <a:rPr sz="1900" spc="-25" dirty="0">
                <a:latin typeface="Trebuchet MS"/>
                <a:cs typeface="Trebuchet MS"/>
              </a:rPr>
              <a:t> workers,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monitored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cleaned</a:t>
            </a:r>
            <a:r>
              <a:rPr sz="1900" spc="-30" dirty="0">
                <a:latin typeface="Trebuchet MS"/>
                <a:cs typeface="Trebuchet MS"/>
              </a:rPr>
              <a:t> areas, </a:t>
            </a:r>
            <a:r>
              <a:rPr sz="1900" spc="50" dirty="0">
                <a:latin typeface="Trebuchet MS"/>
                <a:cs typeface="Trebuchet MS"/>
              </a:rPr>
              <a:t>and</a:t>
            </a:r>
            <a:r>
              <a:rPr sz="1900" spc="-2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ensures </a:t>
            </a:r>
            <a:r>
              <a:rPr sz="1900" dirty="0">
                <a:latin typeface="Trebuchet MS"/>
                <a:cs typeface="Trebuchet MS"/>
              </a:rPr>
              <a:t>proper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waste</a:t>
            </a:r>
            <a:r>
              <a:rPr sz="1900" spc="-3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disposal.</a:t>
            </a: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00" dirty="0">
              <a:latin typeface="Trebuchet MS"/>
              <a:cs typeface="Trebuchet MS"/>
            </a:endParaRPr>
          </a:p>
          <a:p>
            <a:pPr marL="98425" marR="90805" algn="ctr">
              <a:lnSpc>
                <a:spcPct val="115100"/>
              </a:lnSpc>
            </a:pPr>
            <a:r>
              <a:rPr sz="1900" dirty="0">
                <a:latin typeface="Trebuchet MS"/>
                <a:cs typeface="Trebuchet MS"/>
              </a:rPr>
              <a:t>Conducted</a:t>
            </a:r>
            <a:r>
              <a:rPr sz="1900" spc="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awareness</a:t>
            </a:r>
            <a:r>
              <a:rPr sz="1900" spc="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campagins</a:t>
            </a:r>
            <a:r>
              <a:rPr sz="1900" spc="35" dirty="0">
                <a:latin typeface="Trebuchet MS"/>
                <a:cs typeface="Trebuchet MS"/>
              </a:rPr>
              <a:t> </a:t>
            </a:r>
            <a:r>
              <a:rPr sz="1900" spc="50" dirty="0">
                <a:latin typeface="Trebuchet MS"/>
                <a:cs typeface="Trebuchet MS"/>
              </a:rPr>
              <a:t>and</a:t>
            </a:r>
            <a:r>
              <a:rPr sz="1900" spc="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school</a:t>
            </a:r>
            <a:r>
              <a:rPr sz="1900" spc="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visits</a:t>
            </a:r>
            <a:r>
              <a:rPr sz="1900" spc="30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to</a:t>
            </a:r>
            <a:r>
              <a:rPr sz="1900" spc="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promote</a:t>
            </a:r>
            <a:r>
              <a:rPr sz="1900" spc="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hygiene</a:t>
            </a:r>
            <a:r>
              <a:rPr sz="1900" spc="35" dirty="0">
                <a:latin typeface="Trebuchet MS"/>
                <a:cs typeface="Trebuchet MS"/>
              </a:rPr>
              <a:t> </a:t>
            </a:r>
            <a:r>
              <a:rPr sz="1900" spc="50" dirty="0">
                <a:latin typeface="Trebuchet MS"/>
                <a:cs typeface="Trebuchet MS"/>
              </a:rPr>
              <a:t>and</a:t>
            </a:r>
            <a:r>
              <a:rPr sz="1900" spc="3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waste segregation.</a:t>
            </a:r>
            <a:endParaRPr sz="19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49050" y="1524755"/>
            <a:ext cx="981710" cy="6934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20"/>
              </a:lnSpc>
            </a:pPr>
            <a:r>
              <a:rPr sz="3100" b="1" spc="-90" dirty="0">
                <a:latin typeface="Trebuchet MS"/>
                <a:cs typeface="Trebuchet MS"/>
              </a:rPr>
              <a:t>Week</a:t>
            </a:r>
            <a:endParaRPr sz="31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3100" dirty="0">
              <a:latin typeface="Trebuchet MS"/>
              <a:cs typeface="Trebuchet MS"/>
            </a:endParaRPr>
          </a:p>
          <a:p>
            <a:pPr marL="114300">
              <a:lnSpc>
                <a:spcPct val="100000"/>
              </a:lnSpc>
            </a:pPr>
            <a:r>
              <a:rPr sz="1900" spc="-20" dirty="0">
                <a:latin typeface="Trebuchet MS"/>
                <a:cs typeface="Trebuchet MS"/>
              </a:rPr>
              <a:t>Week</a:t>
            </a:r>
            <a:r>
              <a:rPr sz="1900" spc="-10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1</a:t>
            </a: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900" dirty="0">
              <a:latin typeface="Trebuchet MS"/>
              <a:cs typeface="Trebuchet MS"/>
            </a:endParaRPr>
          </a:p>
          <a:p>
            <a:pPr marL="106680">
              <a:lnSpc>
                <a:spcPct val="100000"/>
              </a:lnSpc>
            </a:pPr>
            <a:r>
              <a:rPr sz="1900" spc="-20" dirty="0">
                <a:latin typeface="Trebuchet MS"/>
                <a:cs typeface="Trebuchet MS"/>
              </a:rPr>
              <a:t>Week</a:t>
            </a:r>
            <a:r>
              <a:rPr sz="1900" spc="-100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2</a:t>
            </a: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900" dirty="0">
              <a:latin typeface="Trebuchet MS"/>
              <a:cs typeface="Trebuchet MS"/>
            </a:endParaRPr>
          </a:p>
          <a:p>
            <a:pPr marL="105410">
              <a:lnSpc>
                <a:spcPct val="100000"/>
              </a:lnSpc>
            </a:pPr>
            <a:r>
              <a:rPr sz="1900" spc="-10" dirty="0">
                <a:latin typeface="Trebuchet MS"/>
                <a:cs typeface="Trebuchet MS"/>
              </a:rPr>
              <a:t>Week</a:t>
            </a:r>
            <a:r>
              <a:rPr sz="1900" spc="-12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3</a:t>
            </a: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900" dirty="0">
              <a:latin typeface="Trebuchet MS"/>
              <a:cs typeface="Trebuchet MS"/>
            </a:endParaRPr>
          </a:p>
          <a:p>
            <a:pPr marL="101600">
              <a:lnSpc>
                <a:spcPct val="100000"/>
              </a:lnSpc>
            </a:pPr>
            <a:r>
              <a:rPr sz="1900" spc="-10" dirty="0">
                <a:latin typeface="Trebuchet MS"/>
                <a:cs typeface="Trebuchet MS"/>
              </a:rPr>
              <a:t>Week</a:t>
            </a:r>
            <a:r>
              <a:rPr sz="1900" spc="-12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4</a:t>
            </a: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900" dirty="0">
              <a:latin typeface="Trebuchet MS"/>
              <a:cs typeface="Trebuchet MS"/>
            </a:endParaRPr>
          </a:p>
          <a:p>
            <a:pPr marL="104775">
              <a:lnSpc>
                <a:spcPct val="100000"/>
              </a:lnSpc>
            </a:pPr>
            <a:r>
              <a:rPr sz="1900" spc="-10" dirty="0">
                <a:latin typeface="Trebuchet MS"/>
                <a:cs typeface="Trebuchet MS"/>
              </a:rPr>
              <a:t>Week</a:t>
            </a:r>
            <a:r>
              <a:rPr sz="1900" spc="-12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5</a:t>
            </a: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900" dirty="0">
              <a:latin typeface="Trebuchet MS"/>
              <a:cs typeface="Trebuchet MS"/>
            </a:endParaRPr>
          </a:p>
          <a:p>
            <a:pPr marL="100965">
              <a:lnSpc>
                <a:spcPct val="100000"/>
              </a:lnSpc>
            </a:pPr>
            <a:r>
              <a:rPr sz="1900" spc="-10" dirty="0">
                <a:latin typeface="Trebuchet MS"/>
                <a:cs typeface="Trebuchet MS"/>
              </a:rPr>
              <a:t>Week</a:t>
            </a:r>
            <a:r>
              <a:rPr sz="1900" spc="-12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6</a:t>
            </a: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9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900" dirty="0">
              <a:latin typeface="Trebuchet MS"/>
              <a:cs typeface="Trebuchet MS"/>
            </a:endParaRPr>
          </a:p>
          <a:p>
            <a:pPr marL="111760">
              <a:lnSpc>
                <a:spcPct val="100000"/>
              </a:lnSpc>
            </a:pPr>
            <a:r>
              <a:rPr sz="1900" spc="-10" dirty="0">
                <a:latin typeface="Trebuchet MS"/>
                <a:cs typeface="Trebuchet MS"/>
              </a:rPr>
              <a:t>Week</a:t>
            </a:r>
            <a:r>
              <a:rPr sz="1900" spc="-12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7</a:t>
            </a:r>
            <a:endParaRPr sz="19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7083" y="1524755"/>
            <a:ext cx="2525395" cy="6934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5490">
              <a:lnSpc>
                <a:spcPts val="3520"/>
              </a:lnSpc>
            </a:pPr>
            <a:r>
              <a:rPr sz="3100" b="1" spc="-10" dirty="0">
                <a:latin typeface="Trebuchet MS"/>
                <a:cs typeface="Trebuchet MS"/>
              </a:rPr>
              <a:t>Dates</a:t>
            </a:r>
            <a:endParaRPr sz="3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3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900" spc="-40" dirty="0">
                <a:latin typeface="Trebuchet MS"/>
                <a:cs typeface="Trebuchet MS"/>
              </a:rPr>
              <a:t>20/06/2025-</a:t>
            </a:r>
            <a:r>
              <a:rPr sz="1900" dirty="0">
                <a:latin typeface="Trebuchet MS"/>
                <a:cs typeface="Trebuchet MS"/>
              </a:rPr>
              <a:t>28-06-</a:t>
            </a:r>
            <a:r>
              <a:rPr sz="1900" spc="-20" dirty="0">
                <a:latin typeface="Trebuchet MS"/>
                <a:cs typeface="Trebuchet MS"/>
              </a:rPr>
              <a:t>2025</a:t>
            </a: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900">
              <a:latin typeface="Trebuchet MS"/>
              <a:cs typeface="Trebuchet MS"/>
            </a:endParaRPr>
          </a:p>
          <a:p>
            <a:pPr marL="71755">
              <a:lnSpc>
                <a:spcPct val="100000"/>
              </a:lnSpc>
            </a:pPr>
            <a:r>
              <a:rPr sz="1900" spc="-45" dirty="0">
                <a:latin typeface="Trebuchet MS"/>
                <a:cs typeface="Trebuchet MS"/>
              </a:rPr>
              <a:t>29/06/2025-</a:t>
            </a:r>
            <a:r>
              <a:rPr sz="1900" spc="-75" dirty="0">
                <a:latin typeface="Trebuchet MS"/>
                <a:cs typeface="Trebuchet MS"/>
              </a:rPr>
              <a:t>5/07-</a:t>
            </a:r>
            <a:r>
              <a:rPr sz="1900" spc="-20" dirty="0">
                <a:latin typeface="Trebuchet MS"/>
                <a:cs typeface="Trebuchet MS"/>
              </a:rPr>
              <a:t>2025</a:t>
            </a: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900">
              <a:latin typeface="Trebuchet MS"/>
              <a:cs typeface="Trebuchet MS"/>
            </a:endParaRPr>
          </a:p>
          <a:p>
            <a:pPr marL="53975">
              <a:lnSpc>
                <a:spcPct val="100000"/>
              </a:lnSpc>
            </a:pPr>
            <a:r>
              <a:rPr sz="1900" spc="-55" dirty="0">
                <a:latin typeface="Trebuchet MS"/>
                <a:cs typeface="Trebuchet MS"/>
              </a:rPr>
              <a:t>6/07/2025-</a:t>
            </a:r>
            <a:r>
              <a:rPr sz="1900" spc="-10" dirty="0">
                <a:latin typeface="Trebuchet MS"/>
                <a:cs typeface="Trebuchet MS"/>
              </a:rPr>
              <a:t>08/07/2025</a:t>
            </a: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90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</a:pPr>
            <a:r>
              <a:rPr sz="1900" spc="-65" dirty="0">
                <a:latin typeface="Trebuchet MS"/>
                <a:cs typeface="Trebuchet MS"/>
              </a:rPr>
              <a:t>09/07/2025-</a:t>
            </a:r>
            <a:r>
              <a:rPr sz="1900" spc="-40" dirty="0">
                <a:latin typeface="Trebuchet MS"/>
                <a:cs typeface="Trebuchet MS"/>
              </a:rPr>
              <a:t>10/07/2025</a:t>
            </a: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900">
              <a:latin typeface="Trebuchet MS"/>
              <a:cs typeface="Trebuchet MS"/>
            </a:endParaRPr>
          </a:p>
          <a:p>
            <a:pPr marL="45085">
              <a:lnSpc>
                <a:spcPct val="100000"/>
              </a:lnSpc>
            </a:pPr>
            <a:r>
              <a:rPr sz="1900" spc="-95" dirty="0">
                <a:latin typeface="Trebuchet MS"/>
                <a:cs typeface="Trebuchet MS"/>
              </a:rPr>
              <a:t>11/07/2025-</a:t>
            </a:r>
            <a:r>
              <a:rPr sz="1900" spc="-30" dirty="0">
                <a:latin typeface="Trebuchet MS"/>
                <a:cs typeface="Trebuchet MS"/>
              </a:rPr>
              <a:t>15/07/2025</a:t>
            </a: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900">
              <a:latin typeface="Trebuchet MS"/>
              <a:cs typeface="Trebuchet MS"/>
            </a:endParaRPr>
          </a:p>
          <a:p>
            <a:pPr marL="25400">
              <a:lnSpc>
                <a:spcPct val="100000"/>
              </a:lnSpc>
            </a:pPr>
            <a:r>
              <a:rPr sz="1900" spc="-80" dirty="0">
                <a:latin typeface="Trebuchet MS"/>
                <a:cs typeface="Trebuchet MS"/>
              </a:rPr>
              <a:t>16/07/2025-</a:t>
            </a:r>
            <a:r>
              <a:rPr sz="1900" spc="-35" dirty="0">
                <a:latin typeface="Trebuchet MS"/>
                <a:cs typeface="Trebuchet MS"/>
              </a:rPr>
              <a:t>18/07/2025</a:t>
            </a: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90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</a:pPr>
            <a:r>
              <a:rPr sz="1900" spc="-85" dirty="0">
                <a:latin typeface="Trebuchet MS"/>
                <a:cs typeface="Trebuchet MS"/>
              </a:rPr>
              <a:t>19/07/2025-</a:t>
            </a:r>
            <a:r>
              <a:rPr sz="1900" spc="-50" dirty="0">
                <a:latin typeface="Trebuchet MS"/>
                <a:cs typeface="Trebuchet MS"/>
              </a:rPr>
              <a:t>30/07/2025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8496" y="1326098"/>
            <a:ext cx="17151350" cy="7373620"/>
          </a:xfrm>
          <a:custGeom>
            <a:avLst/>
            <a:gdLst/>
            <a:ahLst/>
            <a:cxnLst/>
            <a:rect l="l" t="t" r="r" b="b"/>
            <a:pathLst>
              <a:path w="17151350" h="7373620">
                <a:moveTo>
                  <a:pt x="4762" y="4762"/>
                </a:moveTo>
                <a:lnTo>
                  <a:pt x="4762" y="7368787"/>
                </a:lnTo>
              </a:path>
              <a:path w="17151350" h="7373620">
                <a:moveTo>
                  <a:pt x="4137853" y="4762"/>
                </a:moveTo>
                <a:lnTo>
                  <a:pt x="4137853" y="7368787"/>
                </a:lnTo>
              </a:path>
              <a:path w="17151350" h="7373620">
                <a:moveTo>
                  <a:pt x="7911411" y="4762"/>
                </a:moveTo>
                <a:lnTo>
                  <a:pt x="7911411" y="7368787"/>
                </a:lnTo>
              </a:path>
              <a:path w="17151350" h="7373620">
                <a:moveTo>
                  <a:pt x="17146243" y="4762"/>
                </a:moveTo>
                <a:lnTo>
                  <a:pt x="17146243" y="7368787"/>
                </a:lnTo>
              </a:path>
              <a:path w="17151350" h="7373620">
                <a:moveTo>
                  <a:pt x="0" y="0"/>
                </a:moveTo>
                <a:lnTo>
                  <a:pt x="17151006" y="0"/>
                </a:lnTo>
              </a:path>
              <a:path w="17151350" h="7373620">
                <a:moveTo>
                  <a:pt x="0" y="883014"/>
                </a:moveTo>
                <a:lnTo>
                  <a:pt x="17151006" y="883014"/>
                </a:lnTo>
              </a:path>
              <a:path w="17151350" h="7373620">
                <a:moveTo>
                  <a:pt x="0" y="1835480"/>
                </a:moveTo>
                <a:lnTo>
                  <a:pt x="17151006" y="1835480"/>
                </a:lnTo>
              </a:path>
              <a:path w="17151350" h="7373620">
                <a:moveTo>
                  <a:pt x="0" y="2787945"/>
                </a:moveTo>
                <a:lnTo>
                  <a:pt x="17151006" y="2787945"/>
                </a:lnTo>
              </a:path>
              <a:path w="17151350" h="7373620">
                <a:moveTo>
                  <a:pt x="0" y="3740411"/>
                </a:moveTo>
                <a:lnTo>
                  <a:pt x="17151006" y="3740411"/>
                </a:lnTo>
              </a:path>
              <a:path w="17151350" h="7373620">
                <a:moveTo>
                  <a:pt x="0" y="4692876"/>
                </a:moveTo>
                <a:lnTo>
                  <a:pt x="17151006" y="4692876"/>
                </a:lnTo>
              </a:path>
              <a:path w="17151350" h="7373620">
                <a:moveTo>
                  <a:pt x="0" y="5645342"/>
                </a:moveTo>
                <a:lnTo>
                  <a:pt x="17151006" y="5645342"/>
                </a:lnTo>
              </a:path>
              <a:path w="17151350" h="7373620">
                <a:moveTo>
                  <a:pt x="0" y="6597807"/>
                </a:moveTo>
                <a:lnTo>
                  <a:pt x="17151006" y="6597807"/>
                </a:lnTo>
              </a:path>
              <a:path w="17151350" h="7373620">
                <a:moveTo>
                  <a:pt x="0" y="7373549"/>
                </a:moveTo>
                <a:lnTo>
                  <a:pt x="17151006" y="737354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0745" y="246868"/>
            <a:ext cx="7760970" cy="863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0" spc="-405" dirty="0"/>
              <a:t>Weekly</a:t>
            </a:r>
            <a:r>
              <a:rPr sz="5500" spc="-530" dirty="0"/>
              <a:t> </a:t>
            </a:r>
            <a:r>
              <a:rPr sz="5500" spc="-370" dirty="0"/>
              <a:t>Work</a:t>
            </a:r>
            <a:r>
              <a:rPr sz="5500" spc="-525" dirty="0"/>
              <a:t> </a:t>
            </a:r>
            <a:r>
              <a:rPr sz="5500" spc="-390" dirty="0"/>
              <a:t>Schedule</a:t>
            </a:r>
            <a:endParaRPr sz="55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2ADE0-379E-DF42-0331-ED738BF75330}"/>
              </a:ext>
            </a:extLst>
          </p:cNvPr>
          <p:cNvSpPr txBox="1"/>
          <p:nvPr/>
        </p:nvSpPr>
        <p:spPr>
          <a:xfrm>
            <a:off x="8595916" y="7995643"/>
            <a:ext cx="908367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a web application on waste management “GREENOVA”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682076"/>
            <a:ext cx="16159480" cy="605155"/>
          </a:xfrm>
          <a:custGeom>
            <a:avLst/>
            <a:gdLst/>
            <a:ahLst/>
            <a:cxnLst/>
            <a:rect l="l" t="t" r="r" b="b"/>
            <a:pathLst>
              <a:path w="16159480" h="605154">
                <a:moveTo>
                  <a:pt x="16159267" y="604897"/>
                </a:moveTo>
                <a:lnTo>
                  <a:pt x="0" y="604897"/>
                </a:lnTo>
                <a:lnTo>
                  <a:pt x="0" y="0"/>
                </a:lnTo>
                <a:lnTo>
                  <a:pt x="15810020" y="0"/>
                </a:lnTo>
                <a:lnTo>
                  <a:pt x="16159267" y="604897"/>
                </a:lnTo>
                <a:close/>
              </a:path>
            </a:pathLst>
          </a:custGeom>
          <a:solidFill>
            <a:srgbClr val="A066C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044" y="2476119"/>
            <a:ext cx="109070" cy="10907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6044" y="3963418"/>
            <a:ext cx="109096" cy="10896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6044" y="5450709"/>
            <a:ext cx="109096" cy="10896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6044" y="6937999"/>
            <a:ext cx="109070" cy="10907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6044" y="7929523"/>
            <a:ext cx="109070" cy="10907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921557" y="0"/>
            <a:ext cx="16366490" cy="596265"/>
          </a:xfrm>
          <a:custGeom>
            <a:avLst/>
            <a:gdLst/>
            <a:ahLst/>
            <a:cxnLst/>
            <a:rect l="l" t="t" r="r" b="b"/>
            <a:pathLst>
              <a:path w="16366490" h="596265">
                <a:moveTo>
                  <a:pt x="16366440" y="595884"/>
                </a:moveTo>
                <a:lnTo>
                  <a:pt x="344042" y="595884"/>
                </a:lnTo>
                <a:lnTo>
                  <a:pt x="0" y="0"/>
                </a:lnTo>
                <a:lnTo>
                  <a:pt x="16366488" y="0"/>
                </a:lnTo>
                <a:lnTo>
                  <a:pt x="16366440" y="595884"/>
                </a:lnTo>
                <a:close/>
              </a:path>
            </a:pathLst>
          </a:custGeom>
          <a:solidFill>
            <a:srgbClr val="A066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25833" y="9244117"/>
            <a:ext cx="8470265" cy="28575"/>
          </a:xfrm>
          <a:custGeom>
            <a:avLst/>
            <a:gdLst/>
            <a:ahLst/>
            <a:cxnLst/>
            <a:rect l="l" t="t" r="r" b="b"/>
            <a:pathLst>
              <a:path w="8470265" h="28575">
                <a:moveTo>
                  <a:pt x="8463914" y="28448"/>
                </a:moveTo>
                <a:lnTo>
                  <a:pt x="6349" y="28448"/>
                </a:lnTo>
                <a:lnTo>
                  <a:pt x="0" y="22098"/>
                </a:lnTo>
                <a:lnTo>
                  <a:pt x="0" y="6349"/>
                </a:lnTo>
                <a:lnTo>
                  <a:pt x="6349" y="0"/>
                </a:lnTo>
                <a:lnTo>
                  <a:pt x="8463914" y="0"/>
                </a:lnTo>
                <a:lnTo>
                  <a:pt x="8470264" y="6349"/>
                </a:lnTo>
                <a:lnTo>
                  <a:pt x="8470264" y="22098"/>
                </a:lnTo>
                <a:lnTo>
                  <a:pt x="8463914" y="28448"/>
                </a:lnTo>
                <a:close/>
              </a:path>
            </a:pathLst>
          </a:custGeom>
          <a:solidFill>
            <a:srgbClr val="1736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911476" y="1164132"/>
            <a:ext cx="8499475" cy="8108950"/>
          </a:xfrm>
          <a:custGeom>
            <a:avLst/>
            <a:gdLst/>
            <a:ahLst/>
            <a:cxnLst/>
            <a:rect l="l" t="t" r="r" b="b"/>
            <a:pathLst>
              <a:path w="8499475" h="8108950">
                <a:moveTo>
                  <a:pt x="8498967" y="20701"/>
                </a:moveTo>
                <a:lnTo>
                  <a:pt x="8492617" y="14351"/>
                </a:lnTo>
                <a:lnTo>
                  <a:pt x="8484540" y="14351"/>
                </a:lnTo>
                <a:lnTo>
                  <a:pt x="8484616" y="6350"/>
                </a:lnTo>
                <a:lnTo>
                  <a:pt x="8478266" y="0"/>
                </a:lnTo>
                <a:lnTo>
                  <a:pt x="20701" y="0"/>
                </a:lnTo>
                <a:lnTo>
                  <a:pt x="14478" y="6350"/>
                </a:lnTo>
                <a:lnTo>
                  <a:pt x="14401" y="14351"/>
                </a:lnTo>
                <a:lnTo>
                  <a:pt x="6350" y="14351"/>
                </a:lnTo>
                <a:lnTo>
                  <a:pt x="0" y="20701"/>
                </a:lnTo>
                <a:lnTo>
                  <a:pt x="0" y="8087741"/>
                </a:lnTo>
                <a:lnTo>
                  <a:pt x="6477" y="8094091"/>
                </a:lnTo>
                <a:lnTo>
                  <a:pt x="22225" y="8094091"/>
                </a:lnTo>
                <a:lnTo>
                  <a:pt x="28575" y="8087741"/>
                </a:lnTo>
                <a:lnTo>
                  <a:pt x="28448" y="28575"/>
                </a:lnTo>
                <a:lnTo>
                  <a:pt x="8470392" y="28575"/>
                </a:lnTo>
                <a:lnTo>
                  <a:pt x="8470392" y="28448"/>
                </a:lnTo>
                <a:lnTo>
                  <a:pt x="8470519" y="28448"/>
                </a:lnTo>
                <a:lnTo>
                  <a:pt x="8470519" y="8102092"/>
                </a:lnTo>
                <a:lnTo>
                  <a:pt x="8476869" y="8108442"/>
                </a:lnTo>
                <a:lnTo>
                  <a:pt x="8492617" y="8108442"/>
                </a:lnTo>
                <a:lnTo>
                  <a:pt x="8498967" y="8102092"/>
                </a:lnTo>
                <a:lnTo>
                  <a:pt x="8498967" y="20701"/>
                </a:lnTo>
                <a:close/>
              </a:path>
            </a:pathLst>
          </a:custGeom>
          <a:solidFill>
            <a:srgbClr val="1736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39283" y="999045"/>
            <a:ext cx="84601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35" dirty="0">
                <a:latin typeface="Trebuchet MS"/>
                <a:cs typeface="Trebuchet MS"/>
              </a:rPr>
              <a:t>TECHNOLOGICAL</a:t>
            </a:r>
            <a:r>
              <a:rPr sz="5400" spc="-315" dirty="0">
                <a:latin typeface="Trebuchet MS"/>
                <a:cs typeface="Trebuchet MS"/>
              </a:rPr>
              <a:t> </a:t>
            </a:r>
            <a:r>
              <a:rPr sz="5400" spc="55" dirty="0">
                <a:latin typeface="Trebuchet MS"/>
                <a:cs typeface="Trebuchet MS"/>
              </a:rPr>
              <a:t>SOLUTION</a:t>
            </a:r>
            <a:endParaRPr sz="5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8094" y="2213985"/>
            <a:ext cx="7764145" cy="7337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800" b="1" dirty="0" err="1"/>
              <a:t>GreeNova</a:t>
            </a:r>
            <a:r>
              <a:rPr lang="en-US" sz="2800" dirty="0"/>
              <a:t> provides an interactive platform that educates users on effective waste management and sustainable practices through a user-friendly interface.</a:t>
            </a:r>
          </a:p>
          <a:p>
            <a:r>
              <a:rPr lang="en-US" sz="2800" dirty="0"/>
              <a:t>The website includes a categorized video library featuring informative content on recycling, composting, upcycling, and e-waste disposal.</a:t>
            </a:r>
          </a:p>
          <a:p>
            <a:r>
              <a:rPr lang="en-US" sz="2800" dirty="0"/>
              <a:t>Users can explore and filter videos to learn practical waste segregation methods and eco-friendly habits.</a:t>
            </a:r>
          </a:p>
          <a:p>
            <a:r>
              <a:rPr lang="en-US" sz="2800" dirty="0"/>
              <a:t>The system allows team members to dynamically add new awareness videos, keeping the platform updated and engaging.</a:t>
            </a:r>
          </a:p>
          <a:p>
            <a:r>
              <a:rPr lang="en-US" sz="2800" dirty="0" err="1"/>
              <a:t>GreeNova</a:t>
            </a:r>
            <a:r>
              <a:rPr lang="en-US" sz="2800" dirty="0"/>
              <a:t> promotes community participation by collecting feedback and spreading awareness digitally, connecting technology with environmental responsibility.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97B4DF5-F9A9-4220-49FC-F7729234B1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7221" y="1438388"/>
            <a:ext cx="5067488" cy="76012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4295FC-E276-1A5B-F055-3F64393FB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9" y="704230"/>
            <a:ext cx="18061921" cy="88785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8653677" y="6410235"/>
            <a:ext cx="9810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0" dirty="0">
                <a:solidFill>
                  <a:srgbClr val="F4F5FB"/>
                </a:solidFill>
                <a:latin typeface="Roboto Lt"/>
                <a:cs typeface="Roboto Lt"/>
              </a:rPr>
              <a:t>Body</a:t>
            </a:r>
            <a:endParaRPr sz="3400">
              <a:latin typeface="Roboto Lt"/>
              <a:cs typeface="Roboto 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26FE0D-46C7-EAEC-6174-FC7B087E6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3677" y="5143500"/>
            <a:ext cx="8940609" cy="44821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465D4F-82BC-CB6D-C0AD-B88A6C0144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3677" y="405107"/>
            <a:ext cx="8978566" cy="44821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42FA23-5769-4C1C-8BD4-12AD4635E0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0" r="10677"/>
          <a:stretch>
            <a:fillRect/>
          </a:stretch>
        </p:blipFill>
        <p:spPr>
          <a:xfrm>
            <a:off x="838200" y="405107"/>
            <a:ext cx="6938312" cy="43264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B38AEB5-B0FB-64CC-E9B1-96EAF9C93A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63" r="12765"/>
          <a:stretch>
            <a:fillRect/>
          </a:stretch>
        </p:blipFill>
        <p:spPr>
          <a:xfrm>
            <a:off x="673325" y="4765067"/>
            <a:ext cx="7363944" cy="4924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A5CD1D-897A-AAF1-AC96-A614828F1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79"/>
          <a:stretch>
            <a:fillRect/>
          </a:stretch>
        </p:blipFill>
        <p:spPr>
          <a:xfrm>
            <a:off x="9448800" y="5481068"/>
            <a:ext cx="8472985" cy="40820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19E9AA-3FD3-BEC0-5CB0-6C2E0AE3F9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333500"/>
            <a:ext cx="7875373" cy="762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76FF84-5363-FEC1-DD72-31C0756873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4535" y="723900"/>
            <a:ext cx="8472985" cy="427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09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5529" y="416267"/>
            <a:ext cx="9083675" cy="738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650" b="1" spc="-10" dirty="0">
                <a:latin typeface="Trebuchet MS"/>
                <a:cs typeface="Trebuchet MS"/>
              </a:rPr>
              <a:t>Awareness</a:t>
            </a:r>
            <a:r>
              <a:rPr sz="4650" b="1" spc="-240" dirty="0">
                <a:latin typeface="Trebuchet MS"/>
                <a:cs typeface="Trebuchet MS"/>
              </a:rPr>
              <a:t> </a:t>
            </a:r>
            <a:r>
              <a:rPr sz="4650" b="1" spc="260" dirty="0">
                <a:latin typeface="Trebuchet MS"/>
                <a:cs typeface="Trebuchet MS"/>
              </a:rPr>
              <a:t>&amp;</a:t>
            </a:r>
            <a:r>
              <a:rPr sz="4650" b="1" spc="-240" dirty="0">
                <a:latin typeface="Trebuchet MS"/>
                <a:cs typeface="Trebuchet MS"/>
              </a:rPr>
              <a:t> </a:t>
            </a:r>
            <a:r>
              <a:rPr sz="4650" b="1" dirty="0">
                <a:latin typeface="Trebuchet MS"/>
                <a:cs typeface="Trebuchet MS"/>
              </a:rPr>
              <a:t>Campaign</a:t>
            </a:r>
            <a:r>
              <a:rPr sz="4650" b="1" spc="-235" dirty="0">
                <a:latin typeface="Trebuchet MS"/>
                <a:cs typeface="Trebuchet MS"/>
              </a:rPr>
              <a:t> </a:t>
            </a:r>
            <a:r>
              <a:rPr sz="4650" b="1" spc="-10" dirty="0">
                <a:latin typeface="Trebuchet MS"/>
                <a:cs typeface="Trebuchet MS"/>
              </a:rPr>
              <a:t>Activities</a:t>
            </a:r>
            <a:endParaRPr sz="46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23485" y="1504127"/>
            <a:ext cx="7303134" cy="76454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25"/>
              </a:spcBef>
            </a:pPr>
            <a:r>
              <a:rPr sz="4100" spc="-254" dirty="0">
                <a:latin typeface="Arial Black"/>
                <a:cs typeface="Arial Black"/>
              </a:rPr>
              <a:t>Activities</a:t>
            </a:r>
            <a:r>
              <a:rPr sz="4100" spc="-355" dirty="0">
                <a:latin typeface="Arial Black"/>
                <a:cs typeface="Arial Black"/>
              </a:rPr>
              <a:t> </a:t>
            </a:r>
            <a:r>
              <a:rPr sz="4100" spc="-90" dirty="0">
                <a:latin typeface="Arial Black"/>
                <a:cs typeface="Arial Black"/>
              </a:rPr>
              <a:t>Conducted</a:t>
            </a:r>
            <a:endParaRPr sz="4100" dirty="0">
              <a:latin typeface="Arial Black"/>
              <a:cs typeface="Arial Black"/>
            </a:endParaRPr>
          </a:p>
          <a:p>
            <a:pPr marL="12700" marR="381000">
              <a:lnSpc>
                <a:spcPct val="104800"/>
              </a:lnSpc>
              <a:spcBef>
                <a:spcPts val="4355"/>
              </a:spcBef>
            </a:pPr>
            <a:r>
              <a:rPr sz="3100" dirty="0">
                <a:latin typeface="Trebuchet MS"/>
                <a:cs typeface="Trebuchet MS"/>
              </a:rPr>
              <a:t>Poster</a:t>
            </a:r>
            <a:r>
              <a:rPr sz="3100" spc="-95" dirty="0">
                <a:latin typeface="Trebuchet MS"/>
                <a:cs typeface="Trebuchet MS"/>
              </a:rPr>
              <a:t> </a:t>
            </a:r>
            <a:r>
              <a:rPr sz="3100" spc="65" dirty="0">
                <a:latin typeface="Trebuchet MS"/>
                <a:cs typeface="Trebuchet MS"/>
              </a:rPr>
              <a:t>&amp;</a:t>
            </a:r>
            <a:r>
              <a:rPr sz="3100" spc="-90" dirty="0">
                <a:latin typeface="Trebuchet MS"/>
                <a:cs typeface="Trebuchet MS"/>
              </a:rPr>
              <a:t> </a:t>
            </a:r>
            <a:r>
              <a:rPr sz="3100" spc="55" dirty="0">
                <a:latin typeface="Trebuchet MS"/>
                <a:cs typeface="Trebuchet MS"/>
              </a:rPr>
              <a:t>Banner</a:t>
            </a:r>
            <a:r>
              <a:rPr sz="3100" spc="-90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Campaigns:</a:t>
            </a:r>
            <a:r>
              <a:rPr sz="3100" spc="-90" dirty="0">
                <a:latin typeface="Trebuchet MS"/>
                <a:cs typeface="Trebuchet MS"/>
              </a:rPr>
              <a:t> </a:t>
            </a:r>
            <a:r>
              <a:rPr sz="3100" spc="35" dirty="0">
                <a:latin typeface="Trebuchet MS"/>
                <a:cs typeface="Trebuchet MS"/>
              </a:rPr>
              <a:t>Displayed </a:t>
            </a:r>
            <a:r>
              <a:rPr sz="3100" dirty="0">
                <a:latin typeface="Trebuchet MS"/>
                <a:cs typeface="Trebuchet MS"/>
              </a:rPr>
              <a:t>awareness</a:t>
            </a:r>
            <a:r>
              <a:rPr sz="3100" spc="-65" dirty="0">
                <a:latin typeface="Trebuchet MS"/>
                <a:cs typeface="Trebuchet MS"/>
              </a:rPr>
              <a:t> </a:t>
            </a:r>
            <a:r>
              <a:rPr sz="3100" spc="50" dirty="0">
                <a:latin typeface="Trebuchet MS"/>
                <a:cs typeface="Trebuchet MS"/>
              </a:rPr>
              <a:t>posters</a:t>
            </a:r>
            <a:r>
              <a:rPr sz="3100" spc="-65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with</a:t>
            </a:r>
            <a:r>
              <a:rPr sz="3100" spc="-65" dirty="0">
                <a:latin typeface="Trebuchet MS"/>
                <a:cs typeface="Trebuchet MS"/>
              </a:rPr>
              <a:t> </a:t>
            </a:r>
            <a:r>
              <a:rPr sz="3100" spc="70" dirty="0">
                <a:latin typeface="Trebuchet MS"/>
                <a:cs typeface="Trebuchet MS"/>
              </a:rPr>
              <a:t>messages</a:t>
            </a:r>
            <a:r>
              <a:rPr sz="3100" spc="-65" dirty="0">
                <a:latin typeface="Trebuchet MS"/>
                <a:cs typeface="Trebuchet MS"/>
              </a:rPr>
              <a:t> </a:t>
            </a:r>
            <a:r>
              <a:rPr sz="3100" spc="-20" dirty="0">
                <a:latin typeface="Trebuchet MS"/>
                <a:cs typeface="Trebuchet MS"/>
              </a:rPr>
              <a:t>like </a:t>
            </a:r>
            <a:r>
              <a:rPr sz="3100" spc="-75" dirty="0">
                <a:latin typeface="Trebuchet MS"/>
                <a:cs typeface="Trebuchet MS"/>
              </a:rPr>
              <a:t>“Clean</a:t>
            </a:r>
            <a:r>
              <a:rPr sz="3100" spc="-140" dirty="0">
                <a:latin typeface="Trebuchet MS"/>
                <a:cs typeface="Trebuchet MS"/>
              </a:rPr>
              <a:t> </a:t>
            </a:r>
            <a:r>
              <a:rPr sz="3100" spc="-40" dirty="0">
                <a:latin typeface="Trebuchet MS"/>
                <a:cs typeface="Trebuchet MS"/>
              </a:rPr>
              <a:t>Streets,</a:t>
            </a:r>
            <a:r>
              <a:rPr sz="3100" spc="-135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Healthy</a:t>
            </a:r>
            <a:r>
              <a:rPr sz="3100" spc="-135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Homes.”</a:t>
            </a:r>
            <a:endParaRPr sz="3100" dirty="0">
              <a:latin typeface="Trebuchet MS"/>
              <a:cs typeface="Trebuchet MS"/>
            </a:endParaRPr>
          </a:p>
          <a:p>
            <a:pPr marL="12700" marR="5080">
              <a:lnSpc>
                <a:spcPct val="104800"/>
              </a:lnSpc>
            </a:pPr>
            <a:r>
              <a:rPr sz="3100" spc="60" dirty="0">
                <a:latin typeface="Trebuchet MS"/>
                <a:cs typeface="Trebuchet MS"/>
              </a:rPr>
              <a:t>Door-</a:t>
            </a:r>
            <a:r>
              <a:rPr sz="3100" dirty="0">
                <a:latin typeface="Trebuchet MS"/>
                <a:cs typeface="Trebuchet MS"/>
              </a:rPr>
              <a:t>to-</a:t>
            </a:r>
            <a:r>
              <a:rPr sz="3100" spc="80" dirty="0">
                <a:latin typeface="Trebuchet MS"/>
                <a:cs typeface="Trebuchet MS"/>
              </a:rPr>
              <a:t>Door</a:t>
            </a:r>
            <a:r>
              <a:rPr sz="3100" spc="-100" dirty="0">
                <a:latin typeface="Trebuchet MS"/>
                <a:cs typeface="Trebuchet MS"/>
              </a:rPr>
              <a:t> </a:t>
            </a:r>
            <a:r>
              <a:rPr sz="3100" spc="-20" dirty="0">
                <a:latin typeface="Trebuchet MS"/>
                <a:cs typeface="Trebuchet MS"/>
              </a:rPr>
              <a:t>Awareness:</a:t>
            </a:r>
            <a:r>
              <a:rPr sz="3100" spc="-100" dirty="0">
                <a:latin typeface="Trebuchet MS"/>
                <a:cs typeface="Trebuchet MS"/>
              </a:rPr>
              <a:t> </a:t>
            </a:r>
            <a:r>
              <a:rPr sz="3100" spc="-20" dirty="0">
                <a:latin typeface="Trebuchet MS"/>
                <a:cs typeface="Trebuchet MS"/>
              </a:rPr>
              <a:t>Interacted</a:t>
            </a:r>
            <a:r>
              <a:rPr sz="3100" spc="-100" dirty="0">
                <a:latin typeface="Trebuchet MS"/>
                <a:cs typeface="Trebuchet MS"/>
              </a:rPr>
              <a:t> </a:t>
            </a:r>
            <a:r>
              <a:rPr sz="3100" spc="-20" dirty="0">
                <a:latin typeface="Trebuchet MS"/>
                <a:cs typeface="Trebuchet MS"/>
              </a:rPr>
              <a:t>with </a:t>
            </a:r>
            <a:r>
              <a:rPr sz="3100" dirty="0">
                <a:latin typeface="Trebuchet MS"/>
                <a:cs typeface="Trebuchet MS"/>
              </a:rPr>
              <a:t>residents</a:t>
            </a:r>
            <a:r>
              <a:rPr sz="3100" spc="70" dirty="0">
                <a:latin typeface="Trebuchet MS"/>
                <a:cs typeface="Trebuchet MS"/>
              </a:rPr>
              <a:t> </a:t>
            </a:r>
            <a:r>
              <a:rPr sz="3100" spc="85" dirty="0">
                <a:latin typeface="Trebuchet MS"/>
                <a:cs typeface="Trebuchet MS"/>
              </a:rPr>
              <a:t>and</a:t>
            </a:r>
            <a:r>
              <a:rPr sz="3100" spc="75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explained</a:t>
            </a:r>
            <a:r>
              <a:rPr sz="3100" spc="75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proper</a:t>
            </a:r>
            <a:r>
              <a:rPr sz="3100" spc="75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waste </a:t>
            </a:r>
            <a:r>
              <a:rPr sz="3100" spc="80" dirty="0">
                <a:latin typeface="Trebuchet MS"/>
                <a:cs typeface="Trebuchet MS"/>
              </a:rPr>
              <a:t>disposal</a:t>
            </a:r>
            <a:r>
              <a:rPr sz="3100" spc="-45" dirty="0">
                <a:latin typeface="Trebuchet MS"/>
                <a:cs typeface="Trebuchet MS"/>
              </a:rPr>
              <a:t> </a:t>
            </a:r>
            <a:r>
              <a:rPr sz="3100" spc="85" dirty="0">
                <a:latin typeface="Trebuchet MS"/>
                <a:cs typeface="Trebuchet MS"/>
              </a:rPr>
              <a:t>and</a:t>
            </a:r>
            <a:r>
              <a:rPr sz="3100" spc="-40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hygiene</a:t>
            </a:r>
            <a:r>
              <a:rPr sz="3100" spc="-45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habits.</a:t>
            </a:r>
            <a:endParaRPr sz="3100" dirty="0">
              <a:latin typeface="Trebuchet MS"/>
              <a:cs typeface="Trebuchet MS"/>
            </a:endParaRPr>
          </a:p>
          <a:p>
            <a:pPr marL="12700" marR="325120">
              <a:lnSpc>
                <a:spcPct val="104800"/>
              </a:lnSpc>
            </a:pPr>
            <a:r>
              <a:rPr sz="3100" spc="75" dirty="0">
                <a:latin typeface="Trebuchet MS"/>
                <a:cs typeface="Trebuchet MS"/>
              </a:rPr>
              <a:t>School</a:t>
            </a:r>
            <a:r>
              <a:rPr sz="3100" spc="-50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Awareness</a:t>
            </a:r>
            <a:r>
              <a:rPr sz="3100" spc="-50" dirty="0">
                <a:latin typeface="Trebuchet MS"/>
                <a:cs typeface="Trebuchet MS"/>
              </a:rPr>
              <a:t> </a:t>
            </a:r>
            <a:r>
              <a:rPr sz="3100" spc="55" dirty="0">
                <a:latin typeface="Trebuchet MS"/>
                <a:cs typeface="Trebuchet MS"/>
              </a:rPr>
              <a:t>Sessions:</a:t>
            </a:r>
            <a:r>
              <a:rPr sz="3100" spc="-50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Conducted </a:t>
            </a:r>
            <a:r>
              <a:rPr sz="3100" dirty="0">
                <a:latin typeface="Trebuchet MS"/>
                <a:cs typeface="Trebuchet MS"/>
              </a:rPr>
              <a:t>small</a:t>
            </a:r>
            <a:r>
              <a:rPr sz="3100" spc="-80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talks</a:t>
            </a:r>
            <a:r>
              <a:rPr sz="3100" spc="-80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with</a:t>
            </a:r>
            <a:r>
              <a:rPr sz="3100" spc="-80" dirty="0">
                <a:latin typeface="Trebuchet MS"/>
                <a:cs typeface="Trebuchet MS"/>
              </a:rPr>
              <a:t> </a:t>
            </a:r>
            <a:r>
              <a:rPr sz="3100" spc="55" dirty="0">
                <a:latin typeface="Trebuchet MS"/>
                <a:cs typeface="Trebuchet MS"/>
              </a:rPr>
              <a:t>students</a:t>
            </a:r>
            <a:r>
              <a:rPr sz="3100" spc="-80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to</a:t>
            </a:r>
            <a:r>
              <a:rPr sz="3100" spc="-80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promote </a:t>
            </a:r>
            <a:r>
              <a:rPr sz="3100" spc="-20" dirty="0">
                <a:latin typeface="Trebuchet MS"/>
                <a:cs typeface="Trebuchet MS"/>
              </a:rPr>
              <a:t>civic</a:t>
            </a:r>
            <a:r>
              <a:rPr sz="3100" spc="15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responsibility</a:t>
            </a:r>
            <a:r>
              <a:rPr sz="3100" spc="15" dirty="0">
                <a:latin typeface="Trebuchet MS"/>
                <a:cs typeface="Trebuchet MS"/>
              </a:rPr>
              <a:t> </a:t>
            </a:r>
            <a:r>
              <a:rPr sz="3100" spc="85" dirty="0">
                <a:latin typeface="Trebuchet MS"/>
                <a:cs typeface="Trebuchet MS"/>
              </a:rPr>
              <a:t>and</a:t>
            </a:r>
            <a:r>
              <a:rPr sz="3100" spc="15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cleanliness.</a:t>
            </a:r>
            <a:endParaRPr sz="3100" dirty="0">
              <a:latin typeface="Trebuchet MS"/>
              <a:cs typeface="Trebuchet MS"/>
            </a:endParaRPr>
          </a:p>
          <a:p>
            <a:pPr marL="12700" marR="133350">
              <a:lnSpc>
                <a:spcPct val="104800"/>
              </a:lnSpc>
              <a:spcBef>
                <a:spcPts val="5"/>
              </a:spcBef>
            </a:pPr>
            <a:r>
              <a:rPr sz="3100" spc="-10" dirty="0">
                <a:latin typeface="Trebuchet MS"/>
                <a:cs typeface="Trebuchet MS"/>
              </a:rPr>
              <a:t>Waste</a:t>
            </a:r>
            <a:r>
              <a:rPr sz="3100" spc="-150" dirty="0">
                <a:latin typeface="Trebuchet MS"/>
                <a:cs typeface="Trebuchet MS"/>
              </a:rPr>
              <a:t> </a:t>
            </a:r>
            <a:r>
              <a:rPr sz="3100" spc="75" dirty="0">
                <a:latin typeface="Trebuchet MS"/>
                <a:cs typeface="Trebuchet MS"/>
              </a:rPr>
              <a:t>Spot</a:t>
            </a:r>
            <a:r>
              <a:rPr sz="3100" spc="-150" dirty="0">
                <a:latin typeface="Trebuchet MS"/>
                <a:cs typeface="Trebuchet MS"/>
              </a:rPr>
              <a:t> </a:t>
            </a:r>
            <a:r>
              <a:rPr sz="3100" spc="-25" dirty="0">
                <a:latin typeface="Trebuchet MS"/>
                <a:cs typeface="Trebuchet MS"/>
              </a:rPr>
              <a:t>Identification:</a:t>
            </a:r>
            <a:r>
              <a:rPr sz="3100" spc="-145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Identified </a:t>
            </a:r>
            <a:r>
              <a:rPr sz="3100" dirty="0">
                <a:latin typeface="Trebuchet MS"/>
                <a:cs typeface="Trebuchet MS"/>
              </a:rPr>
              <a:t>areas</a:t>
            </a:r>
            <a:r>
              <a:rPr sz="3100" spc="-125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where</a:t>
            </a:r>
            <a:r>
              <a:rPr sz="3100" spc="-120" dirty="0">
                <a:latin typeface="Trebuchet MS"/>
                <a:cs typeface="Trebuchet MS"/>
              </a:rPr>
              <a:t> </a:t>
            </a:r>
            <a:r>
              <a:rPr sz="3100" spc="90" dirty="0">
                <a:latin typeface="Trebuchet MS"/>
                <a:cs typeface="Trebuchet MS"/>
              </a:rPr>
              <a:t>household</a:t>
            </a:r>
            <a:r>
              <a:rPr sz="3100" spc="-120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waste</a:t>
            </a:r>
            <a:r>
              <a:rPr sz="3100" spc="-120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was</a:t>
            </a:r>
            <a:r>
              <a:rPr sz="3100" spc="-125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being </a:t>
            </a:r>
            <a:r>
              <a:rPr sz="3100" dirty="0">
                <a:latin typeface="Trebuchet MS"/>
                <a:cs typeface="Trebuchet MS"/>
              </a:rPr>
              <a:t>thrown</a:t>
            </a:r>
            <a:r>
              <a:rPr sz="3100" spc="-55" dirty="0">
                <a:latin typeface="Trebuchet MS"/>
                <a:cs typeface="Trebuchet MS"/>
              </a:rPr>
              <a:t> </a:t>
            </a:r>
            <a:r>
              <a:rPr sz="3100" spc="85" dirty="0">
                <a:latin typeface="Trebuchet MS"/>
                <a:cs typeface="Trebuchet MS"/>
              </a:rPr>
              <a:t>and</a:t>
            </a:r>
            <a:r>
              <a:rPr sz="3100" spc="-55" dirty="0">
                <a:latin typeface="Trebuchet MS"/>
                <a:cs typeface="Trebuchet MS"/>
              </a:rPr>
              <a:t> </a:t>
            </a:r>
            <a:r>
              <a:rPr sz="3100" spc="50" dirty="0">
                <a:latin typeface="Trebuchet MS"/>
                <a:cs typeface="Trebuchet MS"/>
              </a:rPr>
              <a:t>suggested</a:t>
            </a:r>
            <a:r>
              <a:rPr sz="3100" spc="-55" dirty="0">
                <a:latin typeface="Trebuchet MS"/>
                <a:cs typeface="Trebuchet MS"/>
              </a:rPr>
              <a:t> </a:t>
            </a:r>
            <a:r>
              <a:rPr sz="3100" dirty="0">
                <a:latin typeface="Trebuchet MS"/>
                <a:cs typeface="Trebuchet MS"/>
              </a:rPr>
              <a:t>proper</a:t>
            </a:r>
            <a:r>
              <a:rPr sz="3100" spc="-55" dirty="0">
                <a:latin typeface="Trebuchet MS"/>
                <a:cs typeface="Trebuchet MS"/>
              </a:rPr>
              <a:t> </a:t>
            </a:r>
            <a:r>
              <a:rPr sz="3100" spc="70" dirty="0">
                <a:latin typeface="Trebuchet MS"/>
                <a:cs typeface="Trebuchet MS"/>
              </a:rPr>
              <a:t>disposal </a:t>
            </a:r>
            <a:r>
              <a:rPr sz="3100" spc="-10" dirty="0">
                <a:latin typeface="Trebuchet MS"/>
                <a:cs typeface="Trebuchet MS"/>
              </a:rPr>
              <a:t>methods.</a:t>
            </a:r>
            <a:endParaRPr sz="31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9181" y="2923932"/>
            <a:ext cx="123825" cy="1238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9181" y="4409832"/>
            <a:ext cx="123825" cy="1238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9181" y="5895732"/>
            <a:ext cx="123825" cy="1238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9181" y="7381632"/>
            <a:ext cx="123825" cy="123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8525" y="2977753"/>
            <a:ext cx="133349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58050" y="4616052"/>
            <a:ext cx="142875" cy="1428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58050" y="6301977"/>
            <a:ext cx="142875" cy="1428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48525" y="7978377"/>
            <a:ext cx="133349" cy="1333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851770" y="1493111"/>
            <a:ext cx="6958965" cy="78625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100" spc="-275" dirty="0">
                <a:latin typeface="Arial Black"/>
                <a:cs typeface="Arial Black"/>
              </a:rPr>
              <a:t>Impact</a:t>
            </a:r>
            <a:r>
              <a:rPr sz="4100" spc="-395" dirty="0">
                <a:latin typeface="Arial Black"/>
                <a:cs typeface="Arial Black"/>
              </a:rPr>
              <a:t> </a:t>
            </a:r>
            <a:r>
              <a:rPr sz="4100" spc="580" dirty="0">
                <a:latin typeface="Arial Black"/>
                <a:cs typeface="Arial Black"/>
              </a:rPr>
              <a:t>/</a:t>
            </a:r>
            <a:r>
              <a:rPr sz="4100" spc="-395" dirty="0">
                <a:latin typeface="Arial Black"/>
                <a:cs typeface="Arial Black"/>
              </a:rPr>
              <a:t> </a:t>
            </a:r>
            <a:r>
              <a:rPr sz="4100" spc="-300" dirty="0">
                <a:latin typeface="Arial Black"/>
                <a:cs typeface="Arial Black"/>
              </a:rPr>
              <a:t>Outcomes</a:t>
            </a:r>
            <a:endParaRPr sz="4100">
              <a:latin typeface="Arial Black"/>
              <a:cs typeface="Arial Black"/>
            </a:endParaRPr>
          </a:p>
          <a:p>
            <a:pPr marL="328930" marR="211454">
              <a:lnSpc>
                <a:spcPct val="116799"/>
              </a:lnSpc>
              <a:spcBef>
                <a:spcPts val="4565"/>
              </a:spcBef>
            </a:pPr>
            <a:r>
              <a:rPr sz="3050" spc="-75" dirty="0">
                <a:latin typeface="Verdana"/>
                <a:cs typeface="Verdana"/>
              </a:rPr>
              <a:t>Increased</a:t>
            </a:r>
            <a:r>
              <a:rPr sz="3050" spc="-204" dirty="0">
                <a:latin typeface="Verdana"/>
                <a:cs typeface="Verdana"/>
              </a:rPr>
              <a:t> </a:t>
            </a:r>
            <a:r>
              <a:rPr sz="3050" dirty="0">
                <a:latin typeface="Verdana"/>
                <a:cs typeface="Verdana"/>
              </a:rPr>
              <a:t>public</a:t>
            </a:r>
            <a:r>
              <a:rPr sz="3050" spc="-204" dirty="0">
                <a:latin typeface="Verdana"/>
                <a:cs typeface="Verdana"/>
              </a:rPr>
              <a:t> </a:t>
            </a:r>
            <a:r>
              <a:rPr sz="3050" spc="-90" dirty="0">
                <a:latin typeface="Verdana"/>
                <a:cs typeface="Verdana"/>
              </a:rPr>
              <a:t>awareness</a:t>
            </a:r>
            <a:r>
              <a:rPr sz="3050" spc="-200" dirty="0">
                <a:latin typeface="Verdana"/>
                <a:cs typeface="Verdana"/>
              </a:rPr>
              <a:t> </a:t>
            </a:r>
            <a:r>
              <a:rPr sz="3050" spc="-10" dirty="0">
                <a:latin typeface="Verdana"/>
                <a:cs typeface="Verdana"/>
              </a:rPr>
              <a:t>about </a:t>
            </a:r>
            <a:r>
              <a:rPr sz="3050" spc="-75" dirty="0">
                <a:latin typeface="Verdana"/>
                <a:cs typeface="Verdana"/>
              </a:rPr>
              <a:t>waste</a:t>
            </a:r>
            <a:r>
              <a:rPr sz="3050" spc="-270" dirty="0">
                <a:latin typeface="Verdana"/>
                <a:cs typeface="Verdana"/>
              </a:rPr>
              <a:t> </a:t>
            </a:r>
            <a:r>
              <a:rPr sz="3050" spc="-85" dirty="0">
                <a:latin typeface="Verdana"/>
                <a:cs typeface="Verdana"/>
              </a:rPr>
              <a:t>segregation</a:t>
            </a:r>
            <a:r>
              <a:rPr sz="3050" spc="-270" dirty="0">
                <a:latin typeface="Verdana"/>
                <a:cs typeface="Verdana"/>
              </a:rPr>
              <a:t> </a:t>
            </a:r>
            <a:r>
              <a:rPr sz="3050" spc="-35" dirty="0">
                <a:latin typeface="Verdana"/>
                <a:cs typeface="Verdana"/>
              </a:rPr>
              <a:t>and</a:t>
            </a:r>
            <a:r>
              <a:rPr sz="3050" spc="-270" dirty="0">
                <a:latin typeface="Verdana"/>
                <a:cs typeface="Verdana"/>
              </a:rPr>
              <a:t> </a:t>
            </a:r>
            <a:r>
              <a:rPr sz="3050" spc="-10" dirty="0">
                <a:latin typeface="Verdana"/>
                <a:cs typeface="Verdana"/>
              </a:rPr>
              <a:t>hygiene practices.</a:t>
            </a:r>
            <a:endParaRPr sz="3050">
              <a:latin typeface="Verdana"/>
              <a:cs typeface="Verdana"/>
            </a:endParaRPr>
          </a:p>
          <a:p>
            <a:pPr marL="350520" marR="452755">
              <a:lnSpc>
                <a:spcPct val="117100"/>
              </a:lnSpc>
              <a:spcBef>
                <a:spcPts val="15"/>
              </a:spcBef>
            </a:pPr>
            <a:r>
              <a:rPr sz="3150" spc="-85" dirty="0">
                <a:latin typeface="Verdana"/>
                <a:cs typeface="Verdana"/>
              </a:rPr>
              <a:t>Improved</a:t>
            </a:r>
            <a:r>
              <a:rPr sz="3150" spc="-270" dirty="0">
                <a:latin typeface="Verdana"/>
                <a:cs typeface="Verdana"/>
              </a:rPr>
              <a:t> </a:t>
            </a:r>
            <a:r>
              <a:rPr sz="3150" dirty="0">
                <a:latin typeface="Verdana"/>
                <a:cs typeface="Verdana"/>
              </a:rPr>
              <a:t>cooperation</a:t>
            </a:r>
            <a:r>
              <a:rPr sz="3150" spc="-270" dirty="0">
                <a:latin typeface="Verdana"/>
                <a:cs typeface="Verdana"/>
              </a:rPr>
              <a:t> </a:t>
            </a:r>
            <a:r>
              <a:rPr sz="3150" spc="-10" dirty="0">
                <a:latin typeface="Verdana"/>
                <a:cs typeface="Verdana"/>
              </a:rPr>
              <a:t>between the</a:t>
            </a:r>
            <a:r>
              <a:rPr sz="3150" spc="-300" dirty="0">
                <a:latin typeface="Verdana"/>
                <a:cs typeface="Verdana"/>
              </a:rPr>
              <a:t> </a:t>
            </a:r>
            <a:r>
              <a:rPr sz="3150" spc="-35" dirty="0">
                <a:latin typeface="Verdana"/>
                <a:cs typeface="Verdana"/>
              </a:rPr>
              <a:t>community</a:t>
            </a:r>
            <a:r>
              <a:rPr sz="3150" spc="-300" dirty="0">
                <a:latin typeface="Verdana"/>
                <a:cs typeface="Verdana"/>
              </a:rPr>
              <a:t> </a:t>
            </a:r>
            <a:r>
              <a:rPr sz="3150" spc="-30" dirty="0">
                <a:latin typeface="Verdana"/>
                <a:cs typeface="Verdana"/>
              </a:rPr>
              <a:t>and</a:t>
            </a:r>
            <a:r>
              <a:rPr sz="3150" spc="-295" dirty="0">
                <a:latin typeface="Verdana"/>
                <a:cs typeface="Verdana"/>
              </a:rPr>
              <a:t> </a:t>
            </a:r>
            <a:r>
              <a:rPr sz="3150" spc="-10" dirty="0">
                <a:latin typeface="Verdana"/>
                <a:cs typeface="Verdana"/>
              </a:rPr>
              <a:t>sanitation staff.</a:t>
            </a:r>
            <a:endParaRPr sz="3150">
              <a:latin typeface="Verdana"/>
              <a:cs typeface="Verdana"/>
            </a:endParaRPr>
          </a:p>
          <a:p>
            <a:pPr marL="350520" marR="1176020">
              <a:lnSpc>
                <a:spcPts val="4430"/>
              </a:lnSpc>
              <a:spcBef>
                <a:spcPts val="254"/>
              </a:spcBef>
            </a:pPr>
            <a:r>
              <a:rPr sz="3150" spc="-45" dirty="0">
                <a:latin typeface="Verdana"/>
                <a:cs typeface="Verdana"/>
              </a:rPr>
              <a:t>Youth</a:t>
            </a:r>
            <a:r>
              <a:rPr sz="3150" spc="-310" dirty="0">
                <a:latin typeface="Verdana"/>
                <a:cs typeface="Verdana"/>
              </a:rPr>
              <a:t> </a:t>
            </a:r>
            <a:r>
              <a:rPr sz="3150" spc="-30" dirty="0">
                <a:latin typeface="Verdana"/>
                <a:cs typeface="Verdana"/>
              </a:rPr>
              <a:t>and</a:t>
            </a:r>
            <a:r>
              <a:rPr sz="3150" spc="-310" dirty="0">
                <a:latin typeface="Verdana"/>
                <a:cs typeface="Verdana"/>
              </a:rPr>
              <a:t> </a:t>
            </a:r>
            <a:r>
              <a:rPr sz="3150" spc="-10" dirty="0">
                <a:latin typeface="Verdana"/>
                <a:cs typeface="Verdana"/>
              </a:rPr>
              <a:t>students</a:t>
            </a:r>
            <a:r>
              <a:rPr sz="3150" spc="-310" dirty="0">
                <a:latin typeface="Verdana"/>
                <a:cs typeface="Verdana"/>
              </a:rPr>
              <a:t> </a:t>
            </a:r>
            <a:r>
              <a:rPr sz="3150" spc="-10" dirty="0">
                <a:latin typeface="Verdana"/>
                <a:cs typeface="Verdana"/>
              </a:rPr>
              <a:t>actively </a:t>
            </a:r>
            <a:r>
              <a:rPr sz="3150" dirty="0">
                <a:latin typeface="Verdana"/>
                <a:cs typeface="Verdana"/>
              </a:rPr>
              <a:t>participated</a:t>
            </a:r>
            <a:r>
              <a:rPr sz="3150" spc="-300" dirty="0">
                <a:latin typeface="Verdana"/>
                <a:cs typeface="Verdana"/>
              </a:rPr>
              <a:t> </a:t>
            </a:r>
            <a:r>
              <a:rPr sz="3150" spc="-25" dirty="0">
                <a:latin typeface="Verdana"/>
                <a:cs typeface="Verdana"/>
              </a:rPr>
              <a:t>in</a:t>
            </a:r>
            <a:r>
              <a:rPr sz="3150" spc="-295" dirty="0">
                <a:latin typeface="Verdana"/>
                <a:cs typeface="Verdana"/>
              </a:rPr>
              <a:t> </a:t>
            </a:r>
            <a:r>
              <a:rPr sz="3150" spc="-10" dirty="0">
                <a:latin typeface="Verdana"/>
                <a:cs typeface="Verdana"/>
              </a:rPr>
              <a:t>maintaining cleanliness.</a:t>
            </a:r>
            <a:endParaRPr sz="3150">
              <a:latin typeface="Verdana"/>
              <a:cs typeface="Verdana"/>
            </a:endParaRPr>
          </a:p>
          <a:p>
            <a:pPr marL="328930">
              <a:lnSpc>
                <a:spcPct val="100000"/>
              </a:lnSpc>
              <a:spcBef>
                <a:spcPts val="325"/>
              </a:spcBef>
            </a:pPr>
            <a:r>
              <a:rPr sz="3050" spc="-65" dirty="0">
                <a:latin typeface="Verdana"/>
                <a:cs typeface="Verdana"/>
              </a:rPr>
              <a:t>The</a:t>
            </a:r>
            <a:r>
              <a:rPr sz="3050" spc="-245" dirty="0">
                <a:latin typeface="Verdana"/>
                <a:cs typeface="Verdana"/>
              </a:rPr>
              <a:t> </a:t>
            </a:r>
            <a:r>
              <a:rPr sz="3050" dirty="0">
                <a:latin typeface="Verdana"/>
                <a:cs typeface="Verdana"/>
              </a:rPr>
              <a:t>local</a:t>
            </a:r>
            <a:r>
              <a:rPr sz="3050" spc="-245" dirty="0">
                <a:latin typeface="Verdana"/>
                <a:cs typeface="Verdana"/>
              </a:rPr>
              <a:t> </a:t>
            </a:r>
            <a:r>
              <a:rPr sz="3050" spc="-45" dirty="0">
                <a:latin typeface="Verdana"/>
                <a:cs typeface="Verdana"/>
              </a:rPr>
              <a:t>environment</a:t>
            </a:r>
            <a:r>
              <a:rPr sz="3050" spc="-240" dirty="0">
                <a:latin typeface="Verdana"/>
                <a:cs typeface="Verdana"/>
              </a:rPr>
              <a:t> </a:t>
            </a:r>
            <a:r>
              <a:rPr sz="3050" spc="-10" dirty="0">
                <a:latin typeface="Verdana"/>
                <a:cs typeface="Verdana"/>
              </a:rPr>
              <a:t>improved,</a:t>
            </a:r>
            <a:endParaRPr sz="3050">
              <a:latin typeface="Verdana"/>
              <a:cs typeface="Verdana"/>
            </a:endParaRPr>
          </a:p>
          <a:p>
            <a:pPr marL="328930" marR="5080">
              <a:lnSpc>
                <a:spcPct val="116799"/>
              </a:lnSpc>
            </a:pPr>
            <a:r>
              <a:rPr sz="3050" spc="-30" dirty="0">
                <a:latin typeface="Verdana"/>
                <a:cs typeface="Verdana"/>
              </a:rPr>
              <a:t>with</a:t>
            </a:r>
            <a:r>
              <a:rPr sz="3050" spc="-275" dirty="0">
                <a:latin typeface="Verdana"/>
                <a:cs typeface="Verdana"/>
              </a:rPr>
              <a:t> </a:t>
            </a:r>
            <a:r>
              <a:rPr sz="3050" spc="-30" dirty="0">
                <a:latin typeface="Verdana"/>
                <a:cs typeface="Verdana"/>
              </a:rPr>
              <a:t>cleaner</a:t>
            </a:r>
            <a:r>
              <a:rPr sz="3050" spc="-275" dirty="0">
                <a:latin typeface="Verdana"/>
                <a:cs typeface="Verdana"/>
              </a:rPr>
              <a:t> </a:t>
            </a:r>
            <a:r>
              <a:rPr sz="3050" spc="-40" dirty="0">
                <a:latin typeface="Verdana"/>
                <a:cs typeface="Verdana"/>
              </a:rPr>
              <a:t>streets</a:t>
            </a:r>
            <a:r>
              <a:rPr sz="3050" spc="-270" dirty="0">
                <a:latin typeface="Verdana"/>
                <a:cs typeface="Verdana"/>
              </a:rPr>
              <a:t> </a:t>
            </a:r>
            <a:r>
              <a:rPr sz="3050" spc="-35" dirty="0">
                <a:latin typeface="Verdana"/>
                <a:cs typeface="Verdana"/>
              </a:rPr>
              <a:t>and</a:t>
            </a:r>
            <a:r>
              <a:rPr sz="3050" spc="-275" dirty="0">
                <a:latin typeface="Verdana"/>
                <a:cs typeface="Verdana"/>
              </a:rPr>
              <a:t> </a:t>
            </a:r>
            <a:r>
              <a:rPr sz="3050" spc="-10" dirty="0">
                <a:latin typeface="Verdana"/>
                <a:cs typeface="Verdana"/>
              </a:rPr>
              <a:t>unblocked drains.</a:t>
            </a:r>
            <a:endParaRPr sz="3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3181" y="2023939"/>
            <a:ext cx="11858624" cy="67722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136" rIns="0" bIns="0" rtlCol="0">
            <a:spAutoFit/>
          </a:bodyPr>
          <a:lstStyle/>
          <a:p>
            <a:pPr marL="3132455">
              <a:lnSpc>
                <a:spcPct val="100000"/>
              </a:lnSpc>
              <a:spcBef>
                <a:spcPts val="100"/>
              </a:spcBef>
            </a:pPr>
            <a:r>
              <a:rPr spc="-555" dirty="0"/>
              <a:t>Awareness</a:t>
            </a:r>
            <a:r>
              <a:rPr spc="-590" dirty="0"/>
              <a:t> </a:t>
            </a:r>
            <a:r>
              <a:rPr spc="-475" dirty="0"/>
              <a:t>Campaign</a:t>
            </a:r>
            <a:r>
              <a:rPr spc="-590" dirty="0"/>
              <a:t> </a:t>
            </a:r>
            <a:r>
              <a:rPr spc="-345" dirty="0"/>
              <a:t>Activity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71979" y="2195646"/>
            <a:ext cx="7924799" cy="58959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05694" y="298053"/>
            <a:ext cx="9081135" cy="671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00" b="1" spc="-40" dirty="0">
                <a:latin typeface="Trebuchet MS"/>
                <a:cs typeface="Trebuchet MS"/>
              </a:rPr>
              <a:t>Community</a:t>
            </a:r>
            <a:r>
              <a:rPr sz="4200" b="1" spc="-240" dirty="0">
                <a:latin typeface="Trebuchet MS"/>
                <a:cs typeface="Trebuchet MS"/>
              </a:rPr>
              <a:t> </a:t>
            </a:r>
            <a:r>
              <a:rPr sz="4200" b="1" spc="65" dirty="0">
                <a:latin typeface="Trebuchet MS"/>
                <a:cs typeface="Trebuchet MS"/>
              </a:rPr>
              <a:t>Insights</a:t>
            </a:r>
            <a:r>
              <a:rPr sz="4200" b="1" spc="-240" dirty="0">
                <a:latin typeface="Trebuchet MS"/>
                <a:cs typeface="Trebuchet MS"/>
              </a:rPr>
              <a:t> </a:t>
            </a:r>
            <a:r>
              <a:rPr sz="4200" b="1" spc="-40" dirty="0">
                <a:latin typeface="Trebuchet MS"/>
                <a:cs typeface="Trebuchet MS"/>
              </a:rPr>
              <a:t>(Before</a:t>
            </a:r>
            <a:r>
              <a:rPr sz="4200" b="1" spc="-240" dirty="0">
                <a:latin typeface="Trebuchet MS"/>
                <a:cs typeface="Trebuchet MS"/>
              </a:rPr>
              <a:t> </a:t>
            </a:r>
            <a:r>
              <a:rPr sz="4200" b="1" spc="85" dirty="0">
                <a:latin typeface="Trebuchet MS"/>
                <a:cs typeface="Trebuchet MS"/>
              </a:rPr>
              <a:t>vs</a:t>
            </a:r>
            <a:r>
              <a:rPr sz="4200" b="1" spc="-235" dirty="0">
                <a:latin typeface="Trebuchet MS"/>
                <a:cs typeface="Trebuchet MS"/>
              </a:rPr>
              <a:t> </a:t>
            </a:r>
            <a:r>
              <a:rPr sz="4200" b="1" spc="-25" dirty="0">
                <a:latin typeface="Trebuchet MS"/>
                <a:cs typeface="Trebuchet MS"/>
              </a:rPr>
              <a:t>After)</a:t>
            </a:r>
            <a:endParaRPr sz="4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881" y="780987"/>
            <a:ext cx="8604885" cy="8458200"/>
          </a:xfrm>
          <a:prstGeom prst="rect">
            <a:avLst/>
          </a:prstGeom>
        </p:spPr>
        <p:txBody>
          <a:bodyPr vert="horz" wrap="square" lIns="0" tIns="232410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1830"/>
              </a:spcBef>
            </a:pPr>
            <a:r>
              <a:rPr sz="3200" b="1" dirty="0">
                <a:latin typeface="Trebuchet MS"/>
                <a:cs typeface="Trebuchet MS"/>
              </a:rPr>
              <a:t>Key</a:t>
            </a:r>
            <a:r>
              <a:rPr sz="3200" b="1" spc="-225" dirty="0">
                <a:latin typeface="Trebuchet MS"/>
                <a:cs typeface="Trebuchet MS"/>
              </a:rPr>
              <a:t> </a:t>
            </a:r>
            <a:r>
              <a:rPr sz="3200" b="1" spc="45" dirty="0">
                <a:latin typeface="Trebuchet MS"/>
                <a:cs typeface="Trebuchet MS"/>
              </a:rPr>
              <a:t>Insights</a:t>
            </a:r>
            <a:endParaRPr sz="3200" dirty="0">
              <a:latin typeface="Trebuchet MS"/>
              <a:cs typeface="Trebuchet MS"/>
            </a:endParaRPr>
          </a:p>
          <a:p>
            <a:pPr marL="12700" marR="344170">
              <a:lnSpc>
                <a:spcPct val="110400"/>
              </a:lnSpc>
              <a:spcBef>
                <a:spcPts val="1200"/>
              </a:spcBef>
            </a:pPr>
            <a:r>
              <a:rPr sz="3000" dirty="0">
                <a:latin typeface="Trebuchet MS"/>
                <a:cs typeface="Trebuchet MS"/>
              </a:rPr>
              <a:t>Our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-35" dirty="0">
                <a:latin typeface="Trebuchet MS"/>
                <a:cs typeface="Trebuchet MS"/>
              </a:rPr>
              <a:t>project</a:t>
            </a:r>
            <a:r>
              <a:rPr sz="3000" spc="-60" dirty="0">
                <a:latin typeface="Trebuchet MS"/>
                <a:cs typeface="Trebuchet MS"/>
              </a:rPr>
              <a:t> </a:t>
            </a:r>
            <a:r>
              <a:rPr sz="3000" spc="-20" dirty="0">
                <a:latin typeface="Trebuchet MS"/>
                <a:cs typeface="Trebuchet MS"/>
              </a:rPr>
              <a:t>created</a:t>
            </a:r>
            <a:r>
              <a:rPr sz="3000" spc="-6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awareness</a:t>
            </a:r>
            <a:r>
              <a:rPr sz="3000" spc="-60" dirty="0">
                <a:latin typeface="Trebuchet MS"/>
                <a:cs typeface="Trebuchet MS"/>
              </a:rPr>
              <a:t> </a:t>
            </a:r>
            <a:r>
              <a:rPr sz="3000" spc="85" dirty="0">
                <a:latin typeface="Trebuchet MS"/>
                <a:cs typeface="Trebuchet MS"/>
              </a:rPr>
              <a:t>among</a:t>
            </a:r>
            <a:r>
              <a:rPr sz="3000" spc="-6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residents </a:t>
            </a:r>
            <a:r>
              <a:rPr sz="3000" spc="50" dirty="0">
                <a:latin typeface="Trebuchet MS"/>
                <a:cs typeface="Trebuchet MS"/>
              </a:rPr>
              <a:t>about</a:t>
            </a:r>
            <a:r>
              <a:rPr sz="3000" spc="-8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proper</a:t>
            </a:r>
            <a:r>
              <a:rPr sz="3000" spc="-8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waste</a:t>
            </a:r>
            <a:r>
              <a:rPr sz="3000" spc="-85" dirty="0">
                <a:latin typeface="Trebuchet MS"/>
                <a:cs typeface="Trebuchet MS"/>
              </a:rPr>
              <a:t> </a:t>
            </a:r>
            <a:r>
              <a:rPr sz="3000" spc="85" dirty="0">
                <a:latin typeface="Trebuchet MS"/>
                <a:cs typeface="Trebuchet MS"/>
              </a:rPr>
              <a:t>disposal</a:t>
            </a:r>
            <a:r>
              <a:rPr sz="3000" spc="-85" dirty="0">
                <a:latin typeface="Trebuchet MS"/>
                <a:cs typeface="Trebuchet MS"/>
              </a:rPr>
              <a:t> </a:t>
            </a:r>
            <a:r>
              <a:rPr sz="3000" spc="90" dirty="0">
                <a:latin typeface="Trebuchet MS"/>
                <a:cs typeface="Trebuchet MS"/>
              </a:rPr>
              <a:t>and</a:t>
            </a:r>
            <a:r>
              <a:rPr sz="3000" spc="-85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cleanliness practices.</a:t>
            </a:r>
            <a:endParaRPr sz="3000" dirty="0">
              <a:latin typeface="Trebuchet MS"/>
              <a:cs typeface="Trebuchet MS"/>
            </a:endParaRPr>
          </a:p>
          <a:p>
            <a:pPr marL="12700" marR="267335">
              <a:lnSpc>
                <a:spcPct val="110400"/>
              </a:lnSpc>
            </a:pPr>
            <a:r>
              <a:rPr sz="3000" dirty="0">
                <a:latin typeface="Trebuchet MS"/>
                <a:cs typeface="Trebuchet MS"/>
              </a:rPr>
              <a:t>Through</a:t>
            </a:r>
            <a:r>
              <a:rPr sz="3000" spc="-3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surveys,</a:t>
            </a:r>
            <a:r>
              <a:rPr sz="3000" spc="-30" dirty="0">
                <a:latin typeface="Trebuchet MS"/>
                <a:cs typeface="Trebuchet MS"/>
              </a:rPr>
              <a:t> </a:t>
            </a:r>
            <a:r>
              <a:rPr sz="3000" spc="65" dirty="0">
                <a:latin typeface="Trebuchet MS"/>
                <a:cs typeface="Trebuchet MS"/>
              </a:rPr>
              <a:t>door-</a:t>
            </a:r>
            <a:r>
              <a:rPr sz="3000" dirty="0">
                <a:latin typeface="Trebuchet MS"/>
                <a:cs typeface="Trebuchet MS"/>
              </a:rPr>
              <a:t>to-</a:t>
            </a:r>
            <a:r>
              <a:rPr sz="3000" spc="90" dirty="0">
                <a:latin typeface="Trebuchet MS"/>
                <a:cs typeface="Trebuchet MS"/>
              </a:rPr>
              <a:t>door</a:t>
            </a:r>
            <a:r>
              <a:rPr sz="3000" spc="-30" dirty="0">
                <a:latin typeface="Trebuchet MS"/>
                <a:cs typeface="Trebuchet MS"/>
              </a:rPr>
              <a:t> </a:t>
            </a:r>
            <a:r>
              <a:rPr sz="3000" spc="-20" dirty="0">
                <a:latin typeface="Trebuchet MS"/>
                <a:cs typeface="Trebuchet MS"/>
              </a:rPr>
              <a:t>interactions,</a:t>
            </a:r>
            <a:r>
              <a:rPr sz="3000" spc="-35" dirty="0">
                <a:latin typeface="Trebuchet MS"/>
                <a:cs typeface="Trebuchet MS"/>
              </a:rPr>
              <a:t> </a:t>
            </a:r>
            <a:r>
              <a:rPr sz="3000" spc="65" dirty="0">
                <a:latin typeface="Trebuchet MS"/>
                <a:cs typeface="Trebuchet MS"/>
              </a:rPr>
              <a:t>and </a:t>
            </a:r>
            <a:r>
              <a:rPr sz="3000" dirty="0">
                <a:latin typeface="Trebuchet MS"/>
                <a:cs typeface="Trebuchet MS"/>
              </a:rPr>
              <a:t>poster</a:t>
            </a:r>
            <a:r>
              <a:rPr sz="3000" spc="-1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campaigns,</a:t>
            </a:r>
            <a:r>
              <a:rPr sz="3000" spc="-1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citizens</a:t>
            </a:r>
            <a:r>
              <a:rPr sz="3000" spc="-1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became</a:t>
            </a:r>
            <a:r>
              <a:rPr sz="3000" spc="-10" dirty="0">
                <a:latin typeface="Trebuchet MS"/>
                <a:cs typeface="Trebuchet MS"/>
              </a:rPr>
              <a:t> </a:t>
            </a:r>
            <a:r>
              <a:rPr sz="3000" spc="-20" dirty="0">
                <a:latin typeface="Trebuchet MS"/>
                <a:cs typeface="Trebuchet MS"/>
              </a:rPr>
              <a:t>more </a:t>
            </a:r>
            <a:r>
              <a:rPr sz="3000" spc="55" dirty="0">
                <a:latin typeface="Trebuchet MS"/>
                <a:cs typeface="Trebuchet MS"/>
              </a:rPr>
              <a:t>responsible</a:t>
            </a:r>
            <a:r>
              <a:rPr sz="3000" spc="1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for</a:t>
            </a:r>
            <a:r>
              <a:rPr sz="3000" spc="2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maintaining</a:t>
            </a:r>
            <a:r>
              <a:rPr sz="3000" spc="2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hygiene</a:t>
            </a:r>
            <a:r>
              <a:rPr sz="3000" spc="20" dirty="0">
                <a:latin typeface="Trebuchet MS"/>
                <a:cs typeface="Trebuchet MS"/>
              </a:rPr>
              <a:t> </a:t>
            </a:r>
            <a:r>
              <a:rPr sz="3000" spc="50" dirty="0">
                <a:latin typeface="Trebuchet MS"/>
                <a:cs typeface="Trebuchet MS"/>
              </a:rPr>
              <a:t>in</a:t>
            </a:r>
            <a:r>
              <a:rPr sz="3000" spc="2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their surroundings.</a:t>
            </a:r>
            <a:endParaRPr sz="3000" dirty="0">
              <a:latin typeface="Trebuchet MS"/>
              <a:cs typeface="Trebuchet MS"/>
            </a:endParaRPr>
          </a:p>
          <a:p>
            <a:pPr marL="12700" marR="222885">
              <a:lnSpc>
                <a:spcPct val="110400"/>
              </a:lnSpc>
            </a:pPr>
            <a:r>
              <a:rPr sz="3000" dirty="0">
                <a:latin typeface="Trebuchet MS"/>
                <a:cs typeface="Trebuchet MS"/>
              </a:rPr>
              <a:t>The</a:t>
            </a:r>
            <a:r>
              <a:rPr sz="3000" spc="4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initiative</a:t>
            </a:r>
            <a:r>
              <a:rPr sz="3000" spc="4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improved</a:t>
            </a:r>
            <a:r>
              <a:rPr sz="3000" spc="4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communication</a:t>
            </a:r>
            <a:r>
              <a:rPr sz="3000" spc="4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between </a:t>
            </a:r>
            <a:r>
              <a:rPr sz="3000" dirty="0">
                <a:latin typeface="Trebuchet MS"/>
                <a:cs typeface="Trebuchet MS"/>
              </a:rPr>
              <a:t>residents</a:t>
            </a:r>
            <a:r>
              <a:rPr sz="3000" spc="-35" dirty="0">
                <a:latin typeface="Trebuchet MS"/>
                <a:cs typeface="Trebuchet MS"/>
              </a:rPr>
              <a:t> </a:t>
            </a:r>
            <a:r>
              <a:rPr sz="3000" spc="90" dirty="0">
                <a:latin typeface="Trebuchet MS"/>
                <a:cs typeface="Trebuchet MS"/>
              </a:rPr>
              <a:t>and</a:t>
            </a:r>
            <a:r>
              <a:rPr sz="3000" spc="-3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local</a:t>
            </a:r>
            <a:r>
              <a:rPr sz="3000" spc="-30" dirty="0">
                <a:latin typeface="Trebuchet MS"/>
                <a:cs typeface="Trebuchet MS"/>
              </a:rPr>
              <a:t> </a:t>
            </a:r>
            <a:r>
              <a:rPr sz="3000" spc="-25" dirty="0">
                <a:latin typeface="Trebuchet MS"/>
                <a:cs typeface="Trebuchet MS"/>
              </a:rPr>
              <a:t>workers,</a:t>
            </a:r>
            <a:r>
              <a:rPr sz="3000" spc="-3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encouraging </a:t>
            </a:r>
            <a:r>
              <a:rPr sz="3000" dirty="0">
                <a:latin typeface="Trebuchet MS"/>
                <a:cs typeface="Trebuchet MS"/>
              </a:rPr>
              <a:t>teamwork</a:t>
            </a:r>
            <a:r>
              <a:rPr sz="3000" spc="-150" dirty="0">
                <a:latin typeface="Trebuchet MS"/>
                <a:cs typeface="Trebuchet MS"/>
              </a:rPr>
              <a:t> </a:t>
            </a:r>
            <a:r>
              <a:rPr sz="3000" spc="90" dirty="0">
                <a:latin typeface="Trebuchet MS"/>
                <a:cs typeface="Trebuchet MS"/>
              </a:rPr>
              <a:t>and</a:t>
            </a:r>
            <a:r>
              <a:rPr sz="3000" spc="-145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civic</a:t>
            </a:r>
            <a:r>
              <a:rPr sz="3000" spc="-15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responsibility.</a:t>
            </a:r>
            <a:endParaRPr sz="3000" dirty="0">
              <a:latin typeface="Trebuchet MS"/>
              <a:cs typeface="Trebuchet MS"/>
            </a:endParaRPr>
          </a:p>
          <a:p>
            <a:pPr marL="12700" marR="754380" algn="just">
              <a:lnSpc>
                <a:spcPct val="110400"/>
              </a:lnSpc>
            </a:pPr>
            <a:r>
              <a:rPr sz="3000" dirty="0">
                <a:latin typeface="Trebuchet MS"/>
                <a:cs typeface="Trebuchet MS"/>
              </a:rPr>
              <a:t>Regular</a:t>
            </a:r>
            <a:r>
              <a:rPr sz="3000" spc="6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awareness</a:t>
            </a:r>
            <a:r>
              <a:rPr sz="3000" spc="6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drives</a:t>
            </a:r>
            <a:r>
              <a:rPr sz="3000" spc="65" dirty="0">
                <a:latin typeface="Trebuchet MS"/>
                <a:cs typeface="Trebuchet MS"/>
              </a:rPr>
              <a:t> </a:t>
            </a:r>
            <a:r>
              <a:rPr sz="3000" spc="45" dirty="0">
                <a:latin typeface="Trebuchet MS"/>
                <a:cs typeface="Trebuchet MS"/>
              </a:rPr>
              <a:t>inspired</a:t>
            </a:r>
            <a:r>
              <a:rPr sz="3000" spc="7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youth</a:t>
            </a:r>
            <a:r>
              <a:rPr sz="3000" spc="65" dirty="0">
                <a:latin typeface="Trebuchet MS"/>
                <a:cs typeface="Trebuchet MS"/>
              </a:rPr>
              <a:t> and </a:t>
            </a:r>
            <a:r>
              <a:rPr sz="3000" spc="55" dirty="0">
                <a:latin typeface="Trebuchet MS"/>
                <a:cs typeface="Trebuchet MS"/>
              </a:rPr>
              <a:t>students</a:t>
            </a:r>
            <a:r>
              <a:rPr sz="3000" spc="-12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to</a:t>
            </a:r>
            <a:r>
              <a:rPr sz="3000" spc="-12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participate</a:t>
            </a:r>
            <a:r>
              <a:rPr sz="3000" spc="-120" dirty="0">
                <a:latin typeface="Trebuchet MS"/>
                <a:cs typeface="Trebuchet MS"/>
              </a:rPr>
              <a:t> </a:t>
            </a:r>
            <a:r>
              <a:rPr sz="3000" spc="-20" dirty="0">
                <a:latin typeface="Trebuchet MS"/>
                <a:cs typeface="Trebuchet MS"/>
              </a:rPr>
              <a:t>actively</a:t>
            </a:r>
            <a:r>
              <a:rPr sz="3000" spc="-120" dirty="0">
                <a:latin typeface="Trebuchet MS"/>
                <a:cs typeface="Trebuchet MS"/>
              </a:rPr>
              <a:t> </a:t>
            </a:r>
            <a:r>
              <a:rPr sz="3000" spc="50" dirty="0">
                <a:latin typeface="Trebuchet MS"/>
                <a:cs typeface="Trebuchet MS"/>
              </a:rPr>
              <a:t>in</a:t>
            </a:r>
            <a:r>
              <a:rPr sz="3000" spc="-12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community </a:t>
            </a:r>
            <a:r>
              <a:rPr sz="3000" dirty="0">
                <a:latin typeface="Trebuchet MS"/>
                <a:cs typeface="Trebuchet MS"/>
              </a:rPr>
              <a:t>cleanliness</a:t>
            </a:r>
            <a:r>
              <a:rPr sz="3000" spc="335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efforts.</a:t>
            </a:r>
            <a:endParaRPr sz="3000" dirty="0">
              <a:latin typeface="Trebuchet MS"/>
              <a:cs typeface="Trebuchet MS"/>
            </a:endParaRPr>
          </a:p>
          <a:p>
            <a:pPr marL="12700" marR="5080" algn="just">
              <a:lnSpc>
                <a:spcPct val="110400"/>
              </a:lnSpc>
            </a:pPr>
            <a:r>
              <a:rPr sz="3000" spc="-55" dirty="0">
                <a:latin typeface="Trebuchet MS"/>
                <a:cs typeface="Trebuchet MS"/>
              </a:rPr>
              <a:t>Overall,</a:t>
            </a:r>
            <a:r>
              <a:rPr sz="3000" spc="-7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the</a:t>
            </a:r>
            <a:r>
              <a:rPr sz="3000" spc="-75" dirty="0">
                <a:latin typeface="Trebuchet MS"/>
                <a:cs typeface="Trebuchet MS"/>
              </a:rPr>
              <a:t> </a:t>
            </a:r>
            <a:r>
              <a:rPr sz="3000" spc="-35" dirty="0">
                <a:latin typeface="Trebuchet MS"/>
                <a:cs typeface="Trebuchet MS"/>
              </a:rPr>
              <a:t>project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promoted</a:t>
            </a:r>
            <a:r>
              <a:rPr sz="3000" spc="-7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a</a:t>
            </a:r>
            <a:r>
              <a:rPr sz="3000" spc="-75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cleaner,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35" dirty="0">
                <a:latin typeface="Trebuchet MS"/>
                <a:cs typeface="Trebuchet MS"/>
              </a:rPr>
              <a:t>healthier, </a:t>
            </a:r>
            <a:r>
              <a:rPr sz="3000" spc="90" dirty="0">
                <a:latin typeface="Trebuchet MS"/>
                <a:cs typeface="Trebuchet MS"/>
              </a:rPr>
              <a:t>and</a:t>
            </a:r>
            <a:r>
              <a:rPr sz="3000" spc="1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more</a:t>
            </a:r>
            <a:r>
              <a:rPr sz="3000" spc="1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united</a:t>
            </a:r>
            <a:r>
              <a:rPr sz="3000" spc="10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community</a:t>
            </a:r>
            <a:r>
              <a:rPr sz="3000" spc="15" dirty="0">
                <a:latin typeface="Trebuchet MS"/>
                <a:cs typeface="Trebuchet MS"/>
              </a:rPr>
              <a:t> </a:t>
            </a:r>
            <a:r>
              <a:rPr sz="3000" spc="50" dirty="0">
                <a:latin typeface="Trebuchet MS"/>
                <a:cs typeface="Trebuchet MS"/>
              </a:rPr>
              <a:t>in</a:t>
            </a:r>
            <a:r>
              <a:rPr sz="3000" spc="15" dirty="0">
                <a:latin typeface="Trebuchet MS"/>
                <a:cs typeface="Trebuchet MS"/>
              </a:rPr>
              <a:t> </a:t>
            </a:r>
            <a:r>
              <a:rPr sz="3000" dirty="0">
                <a:latin typeface="Trebuchet MS"/>
                <a:cs typeface="Trebuchet MS"/>
              </a:rPr>
              <a:t>Gandhi</a:t>
            </a:r>
            <a:r>
              <a:rPr sz="3000" spc="10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Nagar.</a:t>
            </a:r>
            <a:endParaRPr sz="3000" dirty="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306" y="1910714"/>
            <a:ext cx="114300" cy="114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306" y="3425189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306" y="5444489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306" y="6958964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306" y="8473439"/>
            <a:ext cx="114300" cy="1142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0630"/>
            <a:ext cx="18287365" cy="10196830"/>
            <a:chOff x="0" y="90630"/>
            <a:chExt cx="18287365" cy="101968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0630"/>
              <a:ext cx="5076986" cy="1019200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24297" y="9515875"/>
              <a:ext cx="14763115" cy="771525"/>
            </a:xfrm>
            <a:custGeom>
              <a:avLst/>
              <a:gdLst/>
              <a:ahLst/>
              <a:cxnLst/>
              <a:rect l="l" t="t" r="r" b="b"/>
              <a:pathLst>
                <a:path w="14763115" h="771525">
                  <a:moveTo>
                    <a:pt x="14762825" y="771137"/>
                  </a:moveTo>
                  <a:lnTo>
                    <a:pt x="0" y="771137"/>
                  </a:lnTo>
                  <a:lnTo>
                    <a:pt x="445131" y="0"/>
                  </a:lnTo>
                  <a:lnTo>
                    <a:pt x="14762825" y="0"/>
                  </a:lnTo>
                  <a:lnTo>
                    <a:pt x="14762825" y="7711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09920" y="460720"/>
            <a:ext cx="11959590" cy="717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500" spc="-290" dirty="0"/>
              <a:t>Sustainable</a:t>
            </a:r>
            <a:r>
              <a:rPr sz="4500" spc="-405" dirty="0"/>
              <a:t> </a:t>
            </a:r>
            <a:r>
              <a:rPr sz="4500" spc="-215" dirty="0"/>
              <a:t>Development</a:t>
            </a:r>
            <a:r>
              <a:rPr sz="4500" spc="-395" dirty="0"/>
              <a:t> </a:t>
            </a:r>
            <a:r>
              <a:rPr sz="4500" spc="-335" dirty="0"/>
              <a:t>Goals</a:t>
            </a:r>
            <a:r>
              <a:rPr sz="4500" spc="-395" dirty="0"/>
              <a:t> </a:t>
            </a:r>
            <a:r>
              <a:rPr sz="4500" spc="-285" dirty="0"/>
              <a:t>Achieved:</a:t>
            </a:r>
            <a:endParaRPr sz="4500"/>
          </a:p>
        </p:txBody>
      </p:sp>
      <p:grpSp>
        <p:nvGrpSpPr>
          <p:cNvPr id="6" name="object 6"/>
          <p:cNvGrpSpPr/>
          <p:nvPr/>
        </p:nvGrpSpPr>
        <p:grpSpPr>
          <a:xfrm>
            <a:off x="5373708" y="1881417"/>
            <a:ext cx="142875" cy="6048375"/>
            <a:chOff x="5373708" y="1881417"/>
            <a:chExt cx="142875" cy="604837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3708" y="1881417"/>
              <a:ext cx="142875" cy="142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3708" y="3653067"/>
              <a:ext cx="142875" cy="142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73708" y="6015267"/>
              <a:ext cx="142875" cy="1428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73708" y="7786917"/>
              <a:ext cx="142875" cy="14287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715963" y="1600588"/>
            <a:ext cx="11797030" cy="827595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108585">
              <a:lnSpc>
                <a:spcPts val="4650"/>
              </a:lnSpc>
              <a:spcBef>
                <a:spcPts val="140"/>
              </a:spcBef>
            </a:pPr>
            <a:r>
              <a:rPr sz="3750" b="1" dirty="0">
                <a:latin typeface="Trebuchet MS"/>
                <a:cs typeface="Trebuchet MS"/>
              </a:rPr>
              <a:t>SDG</a:t>
            </a:r>
            <a:r>
              <a:rPr sz="3750" b="1" spc="-170" dirty="0">
                <a:latin typeface="Trebuchet MS"/>
                <a:cs typeface="Trebuchet MS"/>
              </a:rPr>
              <a:t> </a:t>
            </a:r>
            <a:r>
              <a:rPr sz="3750" b="1" spc="-265" dirty="0">
                <a:latin typeface="Trebuchet MS"/>
                <a:cs typeface="Trebuchet MS"/>
              </a:rPr>
              <a:t>3</a:t>
            </a:r>
            <a:r>
              <a:rPr sz="3750" b="1" spc="-170" dirty="0">
                <a:latin typeface="Trebuchet MS"/>
                <a:cs typeface="Trebuchet MS"/>
              </a:rPr>
              <a:t> </a:t>
            </a:r>
            <a:r>
              <a:rPr sz="3750" b="1" spc="575" dirty="0">
                <a:latin typeface="Trebuchet MS"/>
                <a:cs typeface="Trebuchet MS"/>
              </a:rPr>
              <a:t>–</a:t>
            </a:r>
            <a:r>
              <a:rPr sz="3750" b="1" spc="-165" dirty="0">
                <a:latin typeface="Trebuchet MS"/>
                <a:cs typeface="Trebuchet MS"/>
              </a:rPr>
              <a:t> </a:t>
            </a:r>
            <a:r>
              <a:rPr sz="3750" b="1" dirty="0">
                <a:latin typeface="Trebuchet MS"/>
                <a:cs typeface="Trebuchet MS"/>
              </a:rPr>
              <a:t>Good</a:t>
            </a:r>
            <a:r>
              <a:rPr sz="3750" b="1" spc="-170" dirty="0">
                <a:latin typeface="Trebuchet MS"/>
                <a:cs typeface="Trebuchet MS"/>
              </a:rPr>
              <a:t> </a:t>
            </a:r>
            <a:r>
              <a:rPr sz="3750" b="1" spc="-50" dirty="0">
                <a:latin typeface="Trebuchet MS"/>
                <a:cs typeface="Trebuchet MS"/>
              </a:rPr>
              <a:t>Health</a:t>
            </a:r>
            <a:r>
              <a:rPr sz="3750" b="1" spc="-165" dirty="0">
                <a:latin typeface="Trebuchet MS"/>
                <a:cs typeface="Trebuchet MS"/>
              </a:rPr>
              <a:t> </a:t>
            </a:r>
            <a:r>
              <a:rPr sz="3750" b="1" dirty="0">
                <a:latin typeface="Trebuchet MS"/>
                <a:cs typeface="Trebuchet MS"/>
              </a:rPr>
              <a:t>and</a:t>
            </a:r>
            <a:r>
              <a:rPr sz="3750" b="1" spc="-170" dirty="0">
                <a:latin typeface="Trebuchet MS"/>
                <a:cs typeface="Trebuchet MS"/>
              </a:rPr>
              <a:t> </a:t>
            </a:r>
            <a:r>
              <a:rPr sz="3750" b="1" spc="-35" dirty="0">
                <a:latin typeface="Trebuchet MS"/>
                <a:cs typeface="Trebuchet MS"/>
              </a:rPr>
              <a:t>Well-</a:t>
            </a:r>
            <a:r>
              <a:rPr sz="3750" b="1" spc="-80" dirty="0">
                <a:latin typeface="Trebuchet MS"/>
                <a:cs typeface="Trebuchet MS"/>
              </a:rPr>
              <a:t>Being:</a:t>
            </a:r>
            <a:r>
              <a:rPr sz="3750" b="1" spc="-170" dirty="0">
                <a:latin typeface="Trebuchet MS"/>
                <a:cs typeface="Trebuchet MS"/>
              </a:rPr>
              <a:t> </a:t>
            </a:r>
            <a:r>
              <a:rPr sz="3750" dirty="0">
                <a:latin typeface="Trebuchet MS"/>
                <a:cs typeface="Trebuchet MS"/>
              </a:rPr>
              <a:t>Promoted</a:t>
            </a:r>
            <a:r>
              <a:rPr sz="3750" spc="-50" dirty="0">
                <a:latin typeface="Trebuchet MS"/>
                <a:cs typeface="Trebuchet MS"/>
              </a:rPr>
              <a:t> </a:t>
            </a:r>
            <a:r>
              <a:rPr sz="3750" spc="-10" dirty="0">
                <a:latin typeface="Trebuchet MS"/>
                <a:cs typeface="Trebuchet MS"/>
              </a:rPr>
              <a:t>public </a:t>
            </a:r>
            <a:r>
              <a:rPr sz="3750" dirty="0">
                <a:latin typeface="Trebuchet MS"/>
                <a:cs typeface="Trebuchet MS"/>
              </a:rPr>
              <a:t>health</a:t>
            </a:r>
            <a:r>
              <a:rPr sz="3750" spc="-40" dirty="0">
                <a:latin typeface="Trebuchet MS"/>
                <a:cs typeface="Trebuchet MS"/>
              </a:rPr>
              <a:t> </a:t>
            </a:r>
            <a:r>
              <a:rPr sz="3750" spc="60" dirty="0">
                <a:latin typeface="Trebuchet MS"/>
                <a:cs typeface="Trebuchet MS"/>
              </a:rPr>
              <a:t>by</a:t>
            </a:r>
            <a:r>
              <a:rPr sz="3750" spc="-40" dirty="0">
                <a:latin typeface="Trebuchet MS"/>
                <a:cs typeface="Trebuchet MS"/>
              </a:rPr>
              <a:t> </a:t>
            </a:r>
            <a:r>
              <a:rPr sz="3750" dirty="0">
                <a:latin typeface="Trebuchet MS"/>
                <a:cs typeface="Trebuchet MS"/>
              </a:rPr>
              <a:t>reducing</a:t>
            </a:r>
            <a:r>
              <a:rPr sz="3750" spc="-40" dirty="0">
                <a:latin typeface="Trebuchet MS"/>
                <a:cs typeface="Trebuchet MS"/>
              </a:rPr>
              <a:t> </a:t>
            </a:r>
            <a:r>
              <a:rPr sz="3750" spc="90" dirty="0">
                <a:latin typeface="Trebuchet MS"/>
                <a:cs typeface="Trebuchet MS"/>
              </a:rPr>
              <a:t>mosquito</a:t>
            </a:r>
            <a:r>
              <a:rPr sz="3750" spc="-40" dirty="0">
                <a:latin typeface="Trebuchet MS"/>
                <a:cs typeface="Trebuchet MS"/>
              </a:rPr>
              <a:t> </a:t>
            </a:r>
            <a:r>
              <a:rPr sz="3750" dirty="0">
                <a:latin typeface="Trebuchet MS"/>
                <a:cs typeface="Trebuchet MS"/>
              </a:rPr>
              <a:t>breeding</a:t>
            </a:r>
            <a:r>
              <a:rPr sz="3750" spc="-35" dirty="0">
                <a:latin typeface="Trebuchet MS"/>
                <a:cs typeface="Trebuchet MS"/>
              </a:rPr>
              <a:t> </a:t>
            </a:r>
            <a:r>
              <a:rPr sz="3750" spc="110" dirty="0">
                <a:latin typeface="Trebuchet MS"/>
                <a:cs typeface="Trebuchet MS"/>
              </a:rPr>
              <a:t>and</a:t>
            </a:r>
            <a:r>
              <a:rPr sz="3750" spc="-40" dirty="0">
                <a:latin typeface="Trebuchet MS"/>
                <a:cs typeface="Trebuchet MS"/>
              </a:rPr>
              <a:t> </a:t>
            </a:r>
            <a:r>
              <a:rPr sz="3750" spc="50" dirty="0">
                <a:latin typeface="Trebuchet MS"/>
                <a:cs typeface="Trebuchet MS"/>
              </a:rPr>
              <a:t>spreading </a:t>
            </a:r>
            <a:r>
              <a:rPr sz="3750" dirty="0">
                <a:latin typeface="Trebuchet MS"/>
                <a:cs typeface="Trebuchet MS"/>
              </a:rPr>
              <a:t>awareness</a:t>
            </a:r>
            <a:r>
              <a:rPr sz="3750" spc="-45" dirty="0">
                <a:latin typeface="Trebuchet MS"/>
                <a:cs typeface="Trebuchet MS"/>
              </a:rPr>
              <a:t> </a:t>
            </a:r>
            <a:r>
              <a:rPr sz="3750" spc="70" dirty="0">
                <a:latin typeface="Trebuchet MS"/>
                <a:cs typeface="Trebuchet MS"/>
              </a:rPr>
              <a:t>about</a:t>
            </a:r>
            <a:r>
              <a:rPr sz="3750" spc="-45" dirty="0">
                <a:latin typeface="Trebuchet MS"/>
                <a:cs typeface="Trebuchet MS"/>
              </a:rPr>
              <a:t> </a:t>
            </a:r>
            <a:r>
              <a:rPr sz="3750" dirty="0">
                <a:latin typeface="Trebuchet MS"/>
                <a:cs typeface="Trebuchet MS"/>
              </a:rPr>
              <a:t>hygiene</a:t>
            </a:r>
            <a:r>
              <a:rPr sz="3750" spc="-60" dirty="0">
                <a:latin typeface="Trebuchet MS"/>
                <a:cs typeface="Trebuchet MS"/>
              </a:rPr>
              <a:t> </a:t>
            </a:r>
            <a:r>
              <a:rPr sz="3750" spc="110" dirty="0">
                <a:latin typeface="Trebuchet MS"/>
                <a:cs typeface="Trebuchet MS"/>
              </a:rPr>
              <a:t>and</a:t>
            </a:r>
            <a:r>
              <a:rPr sz="3750" spc="-40" dirty="0">
                <a:latin typeface="Trebuchet MS"/>
                <a:cs typeface="Trebuchet MS"/>
              </a:rPr>
              <a:t> </a:t>
            </a:r>
            <a:r>
              <a:rPr sz="3750" dirty="0">
                <a:latin typeface="Trebuchet MS"/>
                <a:cs typeface="Trebuchet MS"/>
              </a:rPr>
              <a:t>waste</a:t>
            </a:r>
            <a:r>
              <a:rPr sz="3750" spc="-60" dirty="0">
                <a:latin typeface="Trebuchet MS"/>
                <a:cs typeface="Trebuchet MS"/>
              </a:rPr>
              <a:t> </a:t>
            </a:r>
            <a:r>
              <a:rPr sz="3750" spc="-10" dirty="0">
                <a:latin typeface="Trebuchet MS"/>
                <a:cs typeface="Trebuchet MS"/>
              </a:rPr>
              <a:t>management.</a:t>
            </a:r>
            <a:endParaRPr sz="3750">
              <a:latin typeface="Trebuchet MS"/>
              <a:cs typeface="Trebuchet MS"/>
            </a:endParaRPr>
          </a:p>
          <a:p>
            <a:pPr marL="12700" marR="1143635">
              <a:lnSpc>
                <a:spcPts val="4650"/>
              </a:lnSpc>
            </a:pPr>
            <a:r>
              <a:rPr sz="3750" b="1" dirty="0">
                <a:latin typeface="Trebuchet MS"/>
                <a:cs typeface="Trebuchet MS"/>
              </a:rPr>
              <a:t>SDG</a:t>
            </a:r>
            <a:r>
              <a:rPr sz="3750" b="1" spc="-215" dirty="0">
                <a:latin typeface="Trebuchet MS"/>
                <a:cs typeface="Trebuchet MS"/>
              </a:rPr>
              <a:t> </a:t>
            </a:r>
            <a:r>
              <a:rPr sz="3750" b="1" spc="-95" dirty="0">
                <a:latin typeface="Trebuchet MS"/>
                <a:cs typeface="Trebuchet MS"/>
              </a:rPr>
              <a:t>6</a:t>
            </a:r>
            <a:r>
              <a:rPr sz="3750" b="1" spc="-210" dirty="0">
                <a:latin typeface="Trebuchet MS"/>
                <a:cs typeface="Trebuchet MS"/>
              </a:rPr>
              <a:t> </a:t>
            </a:r>
            <a:r>
              <a:rPr sz="3750" b="1" spc="575" dirty="0">
                <a:latin typeface="Trebuchet MS"/>
                <a:cs typeface="Trebuchet MS"/>
              </a:rPr>
              <a:t>–</a:t>
            </a:r>
            <a:r>
              <a:rPr sz="3750" b="1" spc="-215" dirty="0">
                <a:latin typeface="Trebuchet MS"/>
                <a:cs typeface="Trebuchet MS"/>
              </a:rPr>
              <a:t> </a:t>
            </a:r>
            <a:r>
              <a:rPr sz="3750" b="1" spc="-70" dirty="0">
                <a:latin typeface="Trebuchet MS"/>
                <a:cs typeface="Trebuchet MS"/>
              </a:rPr>
              <a:t>Clean</a:t>
            </a:r>
            <a:r>
              <a:rPr sz="3750" b="1" spc="-210" dirty="0">
                <a:latin typeface="Trebuchet MS"/>
                <a:cs typeface="Trebuchet MS"/>
              </a:rPr>
              <a:t> </a:t>
            </a:r>
            <a:r>
              <a:rPr sz="3750" b="1" spc="-100" dirty="0">
                <a:latin typeface="Trebuchet MS"/>
                <a:cs typeface="Trebuchet MS"/>
              </a:rPr>
              <a:t>Water</a:t>
            </a:r>
            <a:r>
              <a:rPr sz="3750" b="1" spc="-210" dirty="0">
                <a:latin typeface="Trebuchet MS"/>
                <a:cs typeface="Trebuchet MS"/>
              </a:rPr>
              <a:t> </a:t>
            </a:r>
            <a:r>
              <a:rPr sz="3750" b="1" dirty="0">
                <a:latin typeface="Trebuchet MS"/>
                <a:cs typeface="Trebuchet MS"/>
              </a:rPr>
              <a:t>and</a:t>
            </a:r>
            <a:r>
              <a:rPr sz="3750" b="1" spc="-215" dirty="0">
                <a:latin typeface="Trebuchet MS"/>
                <a:cs typeface="Trebuchet MS"/>
              </a:rPr>
              <a:t> </a:t>
            </a:r>
            <a:r>
              <a:rPr sz="3750" b="1" spc="-35" dirty="0">
                <a:latin typeface="Trebuchet MS"/>
                <a:cs typeface="Trebuchet MS"/>
              </a:rPr>
              <a:t>Sanitatio:</a:t>
            </a:r>
            <a:r>
              <a:rPr sz="3750" b="1" spc="-100" dirty="0">
                <a:latin typeface="Trebuchet MS"/>
                <a:cs typeface="Trebuchet MS"/>
              </a:rPr>
              <a:t> </a:t>
            </a:r>
            <a:r>
              <a:rPr sz="3750" spc="40" dirty="0">
                <a:latin typeface="Trebuchet MS"/>
                <a:cs typeface="Trebuchet MS"/>
              </a:rPr>
              <a:t>Improved </a:t>
            </a:r>
            <a:r>
              <a:rPr sz="3750" dirty="0">
                <a:latin typeface="Trebuchet MS"/>
                <a:cs typeface="Trebuchet MS"/>
              </a:rPr>
              <a:t>sanitation</a:t>
            </a:r>
            <a:r>
              <a:rPr sz="3750" spc="-5" dirty="0">
                <a:latin typeface="Trebuchet MS"/>
                <a:cs typeface="Trebuchet MS"/>
              </a:rPr>
              <a:t> </a:t>
            </a:r>
            <a:r>
              <a:rPr sz="3750" spc="60" dirty="0">
                <a:latin typeface="Trebuchet MS"/>
                <a:cs typeface="Trebuchet MS"/>
              </a:rPr>
              <a:t>by</a:t>
            </a:r>
            <a:r>
              <a:rPr sz="3750" dirty="0">
                <a:latin typeface="Trebuchet MS"/>
                <a:cs typeface="Trebuchet MS"/>
              </a:rPr>
              <a:t> identifying</a:t>
            </a:r>
            <a:r>
              <a:rPr sz="3750" spc="5" dirty="0">
                <a:latin typeface="Trebuchet MS"/>
                <a:cs typeface="Trebuchet MS"/>
              </a:rPr>
              <a:t> </a:t>
            </a:r>
            <a:r>
              <a:rPr sz="3750" dirty="0">
                <a:latin typeface="Trebuchet MS"/>
                <a:cs typeface="Trebuchet MS"/>
              </a:rPr>
              <a:t>drainage</a:t>
            </a:r>
            <a:r>
              <a:rPr sz="3750" spc="-20" dirty="0">
                <a:latin typeface="Trebuchet MS"/>
                <a:cs typeface="Trebuchet MS"/>
              </a:rPr>
              <a:t> </a:t>
            </a:r>
            <a:r>
              <a:rPr sz="3750" spc="45" dirty="0">
                <a:latin typeface="Trebuchet MS"/>
                <a:cs typeface="Trebuchet MS"/>
              </a:rPr>
              <a:t>blockages</a:t>
            </a:r>
            <a:r>
              <a:rPr sz="3750" dirty="0">
                <a:latin typeface="Trebuchet MS"/>
                <a:cs typeface="Trebuchet MS"/>
              </a:rPr>
              <a:t> </a:t>
            </a:r>
            <a:r>
              <a:rPr sz="3750" spc="85" dirty="0">
                <a:latin typeface="Trebuchet MS"/>
                <a:cs typeface="Trebuchet MS"/>
              </a:rPr>
              <a:t>and </a:t>
            </a:r>
            <a:r>
              <a:rPr sz="3750" dirty="0">
                <a:latin typeface="Trebuchet MS"/>
                <a:cs typeface="Trebuchet MS"/>
              </a:rPr>
              <a:t>encouraging</a:t>
            </a:r>
            <a:r>
              <a:rPr sz="3750" spc="-30" dirty="0">
                <a:latin typeface="Trebuchet MS"/>
                <a:cs typeface="Trebuchet MS"/>
              </a:rPr>
              <a:t> </a:t>
            </a:r>
            <a:r>
              <a:rPr sz="3750" dirty="0">
                <a:latin typeface="Trebuchet MS"/>
                <a:cs typeface="Trebuchet MS"/>
              </a:rPr>
              <a:t>proper</a:t>
            </a:r>
            <a:r>
              <a:rPr sz="3750" spc="-25" dirty="0">
                <a:latin typeface="Trebuchet MS"/>
                <a:cs typeface="Trebuchet MS"/>
              </a:rPr>
              <a:t> </a:t>
            </a:r>
            <a:r>
              <a:rPr sz="3750" dirty="0">
                <a:latin typeface="Trebuchet MS"/>
                <a:cs typeface="Trebuchet MS"/>
              </a:rPr>
              <a:t>waste</a:t>
            </a:r>
            <a:r>
              <a:rPr sz="3750" spc="-40" dirty="0">
                <a:latin typeface="Trebuchet MS"/>
                <a:cs typeface="Trebuchet MS"/>
              </a:rPr>
              <a:t> </a:t>
            </a:r>
            <a:r>
              <a:rPr sz="3750" spc="110" dirty="0">
                <a:latin typeface="Trebuchet MS"/>
                <a:cs typeface="Trebuchet MS"/>
              </a:rPr>
              <a:t>disposal</a:t>
            </a:r>
            <a:r>
              <a:rPr sz="3750" spc="-25" dirty="0">
                <a:latin typeface="Trebuchet MS"/>
                <a:cs typeface="Trebuchet MS"/>
              </a:rPr>
              <a:t> </a:t>
            </a:r>
            <a:r>
              <a:rPr sz="3750" spc="65" dirty="0">
                <a:latin typeface="Trebuchet MS"/>
                <a:cs typeface="Trebuchet MS"/>
              </a:rPr>
              <a:t>habits</a:t>
            </a:r>
            <a:r>
              <a:rPr sz="3750" spc="-25" dirty="0">
                <a:latin typeface="Trebuchet MS"/>
                <a:cs typeface="Trebuchet MS"/>
              </a:rPr>
              <a:t> </a:t>
            </a:r>
            <a:r>
              <a:rPr sz="3750" spc="90" dirty="0">
                <a:latin typeface="Trebuchet MS"/>
                <a:cs typeface="Trebuchet MS"/>
              </a:rPr>
              <a:t>among </a:t>
            </a:r>
            <a:r>
              <a:rPr sz="3750" spc="-10" dirty="0">
                <a:latin typeface="Trebuchet MS"/>
                <a:cs typeface="Trebuchet MS"/>
              </a:rPr>
              <a:t>residents.</a:t>
            </a:r>
            <a:endParaRPr sz="3750">
              <a:latin typeface="Trebuchet MS"/>
              <a:cs typeface="Trebuchet MS"/>
            </a:endParaRPr>
          </a:p>
          <a:p>
            <a:pPr marL="12700" marR="623570">
              <a:lnSpc>
                <a:spcPts val="4650"/>
              </a:lnSpc>
            </a:pPr>
            <a:r>
              <a:rPr sz="3750" b="1" dirty="0">
                <a:latin typeface="Trebuchet MS"/>
                <a:cs typeface="Trebuchet MS"/>
              </a:rPr>
              <a:t>SDG</a:t>
            </a:r>
            <a:r>
              <a:rPr sz="3750" b="1" spc="-185" dirty="0">
                <a:latin typeface="Trebuchet MS"/>
                <a:cs typeface="Trebuchet MS"/>
              </a:rPr>
              <a:t> </a:t>
            </a:r>
            <a:r>
              <a:rPr sz="3750" b="1" spc="-370" dirty="0">
                <a:latin typeface="Trebuchet MS"/>
                <a:cs typeface="Trebuchet MS"/>
              </a:rPr>
              <a:t>13</a:t>
            </a:r>
            <a:r>
              <a:rPr sz="3750" b="1" spc="-180" dirty="0">
                <a:latin typeface="Trebuchet MS"/>
                <a:cs typeface="Trebuchet MS"/>
              </a:rPr>
              <a:t> </a:t>
            </a:r>
            <a:r>
              <a:rPr sz="3750" b="1" spc="575" dirty="0">
                <a:latin typeface="Trebuchet MS"/>
                <a:cs typeface="Trebuchet MS"/>
              </a:rPr>
              <a:t>–</a:t>
            </a:r>
            <a:r>
              <a:rPr sz="3750" b="1" spc="-180" dirty="0">
                <a:latin typeface="Trebuchet MS"/>
                <a:cs typeface="Trebuchet MS"/>
              </a:rPr>
              <a:t> </a:t>
            </a:r>
            <a:r>
              <a:rPr sz="3750" b="1" spc="-75" dirty="0">
                <a:latin typeface="Trebuchet MS"/>
                <a:cs typeface="Trebuchet MS"/>
              </a:rPr>
              <a:t>Climate</a:t>
            </a:r>
            <a:r>
              <a:rPr sz="3750" b="1" spc="-180" dirty="0">
                <a:latin typeface="Trebuchet MS"/>
                <a:cs typeface="Trebuchet MS"/>
              </a:rPr>
              <a:t> </a:t>
            </a:r>
            <a:r>
              <a:rPr sz="3750" b="1" spc="-70" dirty="0">
                <a:latin typeface="Trebuchet MS"/>
                <a:cs typeface="Trebuchet MS"/>
              </a:rPr>
              <a:t>Action</a:t>
            </a:r>
            <a:r>
              <a:rPr sz="3750" b="1" spc="-185" dirty="0">
                <a:latin typeface="Trebuchet MS"/>
                <a:cs typeface="Trebuchet MS"/>
              </a:rPr>
              <a:t> </a:t>
            </a:r>
            <a:r>
              <a:rPr sz="3750" b="1" spc="-484" dirty="0">
                <a:latin typeface="Trebuchet MS"/>
                <a:cs typeface="Trebuchet MS"/>
              </a:rPr>
              <a:t>:</a:t>
            </a:r>
            <a:r>
              <a:rPr sz="3750" b="1" spc="-65" dirty="0">
                <a:latin typeface="Trebuchet MS"/>
                <a:cs typeface="Trebuchet MS"/>
              </a:rPr>
              <a:t> </a:t>
            </a:r>
            <a:r>
              <a:rPr sz="3750" dirty="0">
                <a:latin typeface="Trebuchet MS"/>
                <a:cs typeface="Trebuchet MS"/>
              </a:rPr>
              <a:t>Reduced</a:t>
            </a:r>
            <a:r>
              <a:rPr sz="3750" spc="-70" dirty="0">
                <a:latin typeface="Trebuchet MS"/>
                <a:cs typeface="Trebuchet MS"/>
              </a:rPr>
              <a:t> </a:t>
            </a:r>
            <a:r>
              <a:rPr sz="3750" spc="60" dirty="0">
                <a:latin typeface="Trebuchet MS"/>
                <a:cs typeface="Trebuchet MS"/>
              </a:rPr>
              <a:t>pollution</a:t>
            </a:r>
            <a:r>
              <a:rPr sz="3750" spc="-70" dirty="0">
                <a:latin typeface="Trebuchet MS"/>
                <a:cs typeface="Trebuchet MS"/>
              </a:rPr>
              <a:t> </a:t>
            </a:r>
            <a:r>
              <a:rPr sz="3750" spc="85" dirty="0">
                <a:latin typeface="Trebuchet MS"/>
                <a:cs typeface="Trebuchet MS"/>
              </a:rPr>
              <a:t>and </a:t>
            </a:r>
            <a:r>
              <a:rPr sz="3750" spc="80" dirty="0">
                <a:latin typeface="Trebuchet MS"/>
                <a:cs typeface="Trebuchet MS"/>
              </a:rPr>
              <a:t>supported</a:t>
            </a:r>
            <a:r>
              <a:rPr sz="3750" spc="-55" dirty="0">
                <a:latin typeface="Trebuchet MS"/>
                <a:cs typeface="Trebuchet MS"/>
              </a:rPr>
              <a:t> </a:t>
            </a:r>
            <a:r>
              <a:rPr sz="3750" dirty="0">
                <a:latin typeface="Trebuchet MS"/>
                <a:cs typeface="Trebuchet MS"/>
              </a:rPr>
              <a:t>environmental</a:t>
            </a:r>
            <a:r>
              <a:rPr sz="3750" spc="-50" dirty="0">
                <a:latin typeface="Trebuchet MS"/>
                <a:cs typeface="Trebuchet MS"/>
              </a:rPr>
              <a:t> </a:t>
            </a:r>
            <a:r>
              <a:rPr sz="3750" spc="50" dirty="0">
                <a:latin typeface="Trebuchet MS"/>
                <a:cs typeface="Trebuchet MS"/>
              </a:rPr>
              <a:t>cleanliness</a:t>
            </a:r>
            <a:r>
              <a:rPr sz="3750" spc="-50" dirty="0">
                <a:latin typeface="Trebuchet MS"/>
                <a:cs typeface="Trebuchet MS"/>
              </a:rPr>
              <a:t> </a:t>
            </a:r>
            <a:r>
              <a:rPr sz="3750" spc="60" dirty="0">
                <a:latin typeface="Trebuchet MS"/>
                <a:cs typeface="Trebuchet MS"/>
              </a:rPr>
              <a:t>by</a:t>
            </a:r>
            <a:r>
              <a:rPr sz="3750" spc="-55" dirty="0">
                <a:latin typeface="Trebuchet MS"/>
                <a:cs typeface="Trebuchet MS"/>
              </a:rPr>
              <a:t> </a:t>
            </a:r>
            <a:r>
              <a:rPr sz="3750" spc="-10" dirty="0">
                <a:latin typeface="Trebuchet MS"/>
                <a:cs typeface="Trebuchet MS"/>
              </a:rPr>
              <a:t>preventing </a:t>
            </a:r>
            <a:r>
              <a:rPr sz="3750" spc="105" dirty="0">
                <a:latin typeface="Trebuchet MS"/>
                <a:cs typeface="Trebuchet MS"/>
              </a:rPr>
              <a:t>open</a:t>
            </a:r>
            <a:r>
              <a:rPr sz="3750" spc="-165" dirty="0">
                <a:latin typeface="Trebuchet MS"/>
                <a:cs typeface="Trebuchet MS"/>
              </a:rPr>
              <a:t> </a:t>
            </a:r>
            <a:r>
              <a:rPr sz="3750" dirty="0">
                <a:latin typeface="Trebuchet MS"/>
                <a:cs typeface="Trebuchet MS"/>
              </a:rPr>
              <a:t>waste</a:t>
            </a:r>
            <a:r>
              <a:rPr sz="3750" spc="-175" dirty="0">
                <a:latin typeface="Trebuchet MS"/>
                <a:cs typeface="Trebuchet MS"/>
              </a:rPr>
              <a:t> </a:t>
            </a:r>
            <a:r>
              <a:rPr sz="3750" spc="90" dirty="0">
                <a:latin typeface="Trebuchet MS"/>
                <a:cs typeface="Trebuchet MS"/>
              </a:rPr>
              <a:t>dumping</a:t>
            </a:r>
            <a:r>
              <a:rPr sz="3750" spc="-160" dirty="0">
                <a:latin typeface="Trebuchet MS"/>
                <a:cs typeface="Trebuchet MS"/>
              </a:rPr>
              <a:t> </a:t>
            </a:r>
            <a:r>
              <a:rPr sz="3750" spc="110" dirty="0">
                <a:latin typeface="Trebuchet MS"/>
                <a:cs typeface="Trebuchet MS"/>
              </a:rPr>
              <a:t>and</a:t>
            </a:r>
            <a:r>
              <a:rPr sz="3750" spc="-160" dirty="0">
                <a:latin typeface="Trebuchet MS"/>
                <a:cs typeface="Trebuchet MS"/>
              </a:rPr>
              <a:t> </a:t>
            </a:r>
            <a:r>
              <a:rPr sz="3750" spc="-55" dirty="0">
                <a:latin typeface="Trebuchet MS"/>
                <a:cs typeface="Trebuchet MS"/>
              </a:rPr>
              <a:t>water</a:t>
            </a:r>
            <a:r>
              <a:rPr sz="3750" spc="-165" dirty="0">
                <a:latin typeface="Trebuchet MS"/>
                <a:cs typeface="Trebuchet MS"/>
              </a:rPr>
              <a:t> </a:t>
            </a:r>
            <a:r>
              <a:rPr sz="3750" spc="-10" dirty="0">
                <a:latin typeface="Trebuchet MS"/>
                <a:cs typeface="Trebuchet MS"/>
              </a:rPr>
              <a:t>stagnation.</a:t>
            </a:r>
            <a:endParaRPr sz="3750">
              <a:latin typeface="Trebuchet MS"/>
              <a:cs typeface="Trebuchet MS"/>
            </a:endParaRPr>
          </a:p>
          <a:p>
            <a:pPr marL="12700" marR="5080">
              <a:lnSpc>
                <a:spcPts val="4650"/>
              </a:lnSpc>
            </a:pPr>
            <a:r>
              <a:rPr sz="3750" b="1" dirty="0">
                <a:latin typeface="Trebuchet MS"/>
                <a:cs typeface="Trebuchet MS"/>
              </a:rPr>
              <a:t>SDG</a:t>
            </a:r>
            <a:r>
              <a:rPr sz="3750" b="1" spc="-195" dirty="0">
                <a:latin typeface="Trebuchet MS"/>
                <a:cs typeface="Trebuchet MS"/>
              </a:rPr>
              <a:t> </a:t>
            </a:r>
            <a:r>
              <a:rPr sz="3750" b="1" spc="-455" dirty="0">
                <a:latin typeface="Trebuchet MS"/>
                <a:cs typeface="Trebuchet MS"/>
              </a:rPr>
              <a:t>17</a:t>
            </a:r>
            <a:r>
              <a:rPr sz="3750" b="1" spc="-195" dirty="0">
                <a:latin typeface="Trebuchet MS"/>
                <a:cs typeface="Trebuchet MS"/>
              </a:rPr>
              <a:t> </a:t>
            </a:r>
            <a:r>
              <a:rPr sz="3750" b="1" spc="575" dirty="0">
                <a:latin typeface="Trebuchet MS"/>
                <a:cs typeface="Trebuchet MS"/>
              </a:rPr>
              <a:t>–</a:t>
            </a:r>
            <a:r>
              <a:rPr sz="3750" b="1" spc="-195" dirty="0">
                <a:latin typeface="Trebuchet MS"/>
                <a:cs typeface="Trebuchet MS"/>
              </a:rPr>
              <a:t> </a:t>
            </a:r>
            <a:r>
              <a:rPr sz="3750" b="1" spc="-25" dirty="0">
                <a:latin typeface="Trebuchet MS"/>
                <a:cs typeface="Trebuchet MS"/>
              </a:rPr>
              <a:t>Partnerships</a:t>
            </a:r>
            <a:r>
              <a:rPr sz="3750" b="1" spc="-195" dirty="0">
                <a:latin typeface="Trebuchet MS"/>
                <a:cs typeface="Trebuchet MS"/>
              </a:rPr>
              <a:t> </a:t>
            </a:r>
            <a:r>
              <a:rPr sz="3750" b="1" spc="-50" dirty="0">
                <a:latin typeface="Trebuchet MS"/>
                <a:cs typeface="Trebuchet MS"/>
              </a:rPr>
              <a:t>for</a:t>
            </a:r>
            <a:r>
              <a:rPr sz="3750" b="1" spc="-195" dirty="0">
                <a:latin typeface="Trebuchet MS"/>
                <a:cs typeface="Trebuchet MS"/>
              </a:rPr>
              <a:t> </a:t>
            </a:r>
            <a:r>
              <a:rPr sz="3750" b="1" spc="-75" dirty="0">
                <a:latin typeface="Trebuchet MS"/>
                <a:cs typeface="Trebuchet MS"/>
              </a:rPr>
              <a:t>the</a:t>
            </a:r>
            <a:r>
              <a:rPr sz="3750" b="1" spc="-195" dirty="0">
                <a:latin typeface="Trebuchet MS"/>
                <a:cs typeface="Trebuchet MS"/>
              </a:rPr>
              <a:t> </a:t>
            </a:r>
            <a:r>
              <a:rPr sz="3750" b="1" dirty="0">
                <a:latin typeface="Trebuchet MS"/>
                <a:cs typeface="Trebuchet MS"/>
              </a:rPr>
              <a:t>Goals</a:t>
            </a:r>
            <a:r>
              <a:rPr sz="3750" b="1" spc="-195" dirty="0">
                <a:latin typeface="Trebuchet MS"/>
                <a:cs typeface="Trebuchet MS"/>
              </a:rPr>
              <a:t> </a:t>
            </a:r>
            <a:r>
              <a:rPr sz="3750" b="1" spc="-484" dirty="0">
                <a:latin typeface="Trebuchet MS"/>
                <a:cs typeface="Trebuchet MS"/>
              </a:rPr>
              <a:t>:</a:t>
            </a:r>
            <a:r>
              <a:rPr sz="3750" b="1" spc="-195" dirty="0">
                <a:latin typeface="Trebuchet MS"/>
                <a:cs typeface="Trebuchet MS"/>
              </a:rPr>
              <a:t> </a:t>
            </a:r>
            <a:r>
              <a:rPr sz="3750" spc="-10" dirty="0">
                <a:latin typeface="Trebuchet MS"/>
                <a:cs typeface="Trebuchet MS"/>
              </a:rPr>
              <a:t>Built </a:t>
            </a:r>
            <a:r>
              <a:rPr sz="3750" dirty="0">
                <a:latin typeface="Trebuchet MS"/>
                <a:cs typeface="Trebuchet MS"/>
              </a:rPr>
              <a:t>collaboration</a:t>
            </a:r>
            <a:r>
              <a:rPr sz="3750" spc="-60" dirty="0">
                <a:latin typeface="Trebuchet MS"/>
                <a:cs typeface="Trebuchet MS"/>
              </a:rPr>
              <a:t> </a:t>
            </a:r>
            <a:r>
              <a:rPr sz="3750" spc="100" dirty="0">
                <a:latin typeface="Trebuchet MS"/>
                <a:cs typeface="Trebuchet MS"/>
              </a:rPr>
              <a:t>among</a:t>
            </a:r>
            <a:r>
              <a:rPr sz="3750" spc="-60" dirty="0">
                <a:latin typeface="Trebuchet MS"/>
                <a:cs typeface="Trebuchet MS"/>
              </a:rPr>
              <a:t> </a:t>
            </a:r>
            <a:r>
              <a:rPr sz="3750" dirty="0">
                <a:latin typeface="Trebuchet MS"/>
                <a:cs typeface="Trebuchet MS"/>
              </a:rPr>
              <a:t>students,</a:t>
            </a:r>
            <a:r>
              <a:rPr sz="3750" spc="-60" dirty="0">
                <a:latin typeface="Trebuchet MS"/>
                <a:cs typeface="Trebuchet MS"/>
              </a:rPr>
              <a:t> </a:t>
            </a:r>
            <a:r>
              <a:rPr sz="3750" spc="-20" dirty="0">
                <a:latin typeface="Trebuchet MS"/>
                <a:cs typeface="Trebuchet MS"/>
              </a:rPr>
              <a:t>youth,</a:t>
            </a:r>
            <a:r>
              <a:rPr sz="3750" spc="-60" dirty="0">
                <a:latin typeface="Trebuchet MS"/>
                <a:cs typeface="Trebuchet MS"/>
              </a:rPr>
              <a:t> </a:t>
            </a:r>
            <a:r>
              <a:rPr sz="3750" spc="110" dirty="0">
                <a:latin typeface="Trebuchet MS"/>
                <a:cs typeface="Trebuchet MS"/>
              </a:rPr>
              <a:t>and</a:t>
            </a:r>
            <a:r>
              <a:rPr sz="3750" spc="-55" dirty="0">
                <a:latin typeface="Trebuchet MS"/>
                <a:cs typeface="Trebuchet MS"/>
              </a:rPr>
              <a:t> </a:t>
            </a:r>
            <a:r>
              <a:rPr sz="3750" spc="45" dirty="0">
                <a:latin typeface="Trebuchet MS"/>
                <a:cs typeface="Trebuchet MS"/>
              </a:rPr>
              <a:t>residents</a:t>
            </a:r>
            <a:r>
              <a:rPr sz="3750" spc="-60" dirty="0">
                <a:latin typeface="Trebuchet MS"/>
                <a:cs typeface="Trebuchet MS"/>
              </a:rPr>
              <a:t> </a:t>
            </a:r>
            <a:r>
              <a:rPr sz="3750" spc="-25" dirty="0">
                <a:latin typeface="Trebuchet MS"/>
                <a:cs typeface="Trebuchet MS"/>
              </a:rPr>
              <a:t>to </a:t>
            </a:r>
            <a:r>
              <a:rPr sz="3750" dirty="0">
                <a:latin typeface="Trebuchet MS"/>
                <a:cs typeface="Trebuchet MS"/>
              </a:rPr>
              <a:t>achieve</a:t>
            </a:r>
            <a:r>
              <a:rPr sz="3750" spc="-55" dirty="0">
                <a:latin typeface="Trebuchet MS"/>
                <a:cs typeface="Trebuchet MS"/>
              </a:rPr>
              <a:t> </a:t>
            </a:r>
            <a:r>
              <a:rPr sz="3750" spc="85" dirty="0">
                <a:latin typeface="Trebuchet MS"/>
                <a:cs typeface="Trebuchet MS"/>
              </a:rPr>
              <a:t>long-</a:t>
            </a:r>
            <a:r>
              <a:rPr sz="3750" dirty="0">
                <a:latin typeface="Trebuchet MS"/>
                <a:cs typeface="Trebuchet MS"/>
              </a:rPr>
              <a:t>term</a:t>
            </a:r>
            <a:r>
              <a:rPr sz="3750" spc="-35" dirty="0">
                <a:latin typeface="Trebuchet MS"/>
                <a:cs typeface="Trebuchet MS"/>
              </a:rPr>
              <a:t> </a:t>
            </a:r>
            <a:r>
              <a:rPr sz="3750" dirty="0">
                <a:latin typeface="Trebuchet MS"/>
                <a:cs typeface="Trebuchet MS"/>
              </a:rPr>
              <a:t>community</a:t>
            </a:r>
            <a:r>
              <a:rPr sz="3750" spc="-35" dirty="0">
                <a:latin typeface="Trebuchet MS"/>
                <a:cs typeface="Trebuchet MS"/>
              </a:rPr>
              <a:t> </a:t>
            </a:r>
            <a:r>
              <a:rPr sz="3750" dirty="0">
                <a:latin typeface="Trebuchet MS"/>
                <a:cs typeface="Trebuchet MS"/>
              </a:rPr>
              <a:t>improvement</a:t>
            </a:r>
            <a:r>
              <a:rPr sz="3750" spc="-35" dirty="0">
                <a:latin typeface="Trebuchet MS"/>
                <a:cs typeface="Trebuchet MS"/>
              </a:rPr>
              <a:t> </a:t>
            </a:r>
            <a:r>
              <a:rPr sz="3750" spc="85" dirty="0">
                <a:latin typeface="Trebuchet MS"/>
                <a:cs typeface="Trebuchet MS"/>
              </a:rPr>
              <a:t>and </a:t>
            </a:r>
            <a:r>
              <a:rPr sz="3750" spc="-10" dirty="0">
                <a:latin typeface="Trebuchet MS"/>
                <a:cs typeface="Trebuchet MS"/>
              </a:rPr>
              <a:t>awareness.</a:t>
            </a:r>
            <a:endParaRPr sz="3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920" y="527610"/>
            <a:ext cx="17056735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200" spc="110" dirty="0">
                <a:latin typeface="Trebuchet MS"/>
                <a:cs typeface="Trebuchet MS"/>
              </a:rPr>
              <a:t>Recommendations</a:t>
            </a:r>
            <a:r>
              <a:rPr sz="6200" spc="-295" dirty="0">
                <a:latin typeface="Trebuchet MS"/>
                <a:cs typeface="Trebuchet MS"/>
              </a:rPr>
              <a:t> </a:t>
            </a:r>
            <a:r>
              <a:rPr sz="6200" dirty="0">
                <a:latin typeface="Trebuchet MS"/>
                <a:cs typeface="Trebuchet MS"/>
              </a:rPr>
              <a:t>for</a:t>
            </a:r>
            <a:r>
              <a:rPr sz="6200" spc="-290" dirty="0">
                <a:latin typeface="Trebuchet MS"/>
                <a:cs typeface="Trebuchet MS"/>
              </a:rPr>
              <a:t> </a:t>
            </a:r>
            <a:r>
              <a:rPr sz="6200" spc="170" dirty="0">
                <a:latin typeface="Trebuchet MS"/>
                <a:cs typeface="Trebuchet MS"/>
              </a:rPr>
              <a:t>Long-</a:t>
            </a:r>
            <a:r>
              <a:rPr sz="6200" spc="-25" dirty="0">
                <a:latin typeface="Trebuchet MS"/>
                <a:cs typeface="Trebuchet MS"/>
              </a:rPr>
              <a:t>Term</a:t>
            </a:r>
            <a:r>
              <a:rPr sz="6200" spc="-290" dirty="0">
                <a:latin typeface="Trebuchet MS"/>
                <a:cs typeface="Trebuchet MS"/>
              </a:rPr>
              <a:t> </a:t>
            </a:r>
            <a:r>
              <a:rPr sz="6200" spc="70" dirty="0">
                <a:latin typeface="Trebuchet MS"/>
                <a:cs typeface="Trebuchet MS"/>
              </a:rPr>
              <a:t>Improvement</a:t>
            </a:r>
            <a:endParaRPr sz="6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9699" y="2231678"/>
            <a:ext cx="123825" cy="1238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06860" y="1938295"/>
            <a:ext cx="14330044" cy="775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100">
              <a:lnSpc>
                <a:spcPct val="113300"/>
              </a:lnSpc>
              <a:spcBef>
                <a:spcPts val="100"/>
              </a:spcBef>
            </a:pPr>
            <a:r>
              <a:rPr sz="3200" b="1" spc="-45" dirty="0">
                <a:latin typeface="Trebuchet MS"/>
                <a:cs typeface="Trebuchet MS"/>
              </a:rPr>
              <a:t>Systematize</a:t>
            </a:r>
            <a:r>
              <a:rPr sz="3200" b="1" spc="-175" dirty="0">
                <a:latin typeface="Trebuchet MS"/>
                <a:cs typeface="Trebuchet MS"/>
              </a:rPr>
              <a:t> </a:t>
            </a:r>
            <a:r>
              <a:rPr sz="3200" b="1" spc="-80" dirty="0">
                <a:latin typeface="Trebuchet MS"/>
                <a:cs typeface="Trebuchet MS"/>
              </a:rPr>
              <a:t>Maintenance: </a:t>
            </a:r>
            <a:r>
              <a:rPr sz="3200" dirty="0">
                <a:latin typeface="Trebuchet MS"/>
                <a:cs typeface="Trebuchet MS"/>
              </a:rPr>
              <a:t>Establish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fixed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and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regular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schedule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for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drainage </a:t>
            </a:r>
            <a:r>
              <a:rPr sz="3200" spc="-25" dirty="0">
                <a:latin typeface="Trebuchet MS"/>
                <a:cs typeface="Trebuchet MS"/>
              </a:rPr>
              <a:t>cleaning,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garbage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35" dirty="0">
                <a:latin typeface="Trebuchet MS"/>
                <a:cs typeface="Trebuchet MS"/>
              </a:rPr>
              <a:t>collection,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and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30" dirty="0">
                <a:latin typeface="Trebuchet MS"/>
                <a:cs typeface="Trebuchet MS"/>
              </a:rPr>
              <a:t>street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maintenance,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instead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of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waiting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for </a:t>
            </a:r>
            <a:r>
              <a:rPr sz="3200" spc="50" dirty="0">
                <a:latin typeface="Trebuchet MS"/>
                <a:cs typeface="Trebuchet MS"/>
              </a:rPr>
              <a:t>problems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arise.</a:t>
            </a:r>
            <a:endParaRPr sz="3200">
              <a:latin typeface="Trebuchet MS"/>
              <a:cs typeface="Trebuchet MS"/>
            </a:endParaRPr>
          </a:p>
          <a:p>
            <a:pPr marL="12700" marR="74930">
              <a:lnSpc>
                <a:spcPct val="113300"/>
              </a:lnSpc>
            </a:pPr>
            <a:r>
              <a:rPr sz="3200" b="1" spc="-55" dirty="0">
                <a:latin typeface="Trebuchet MS"/>
                <a:cs typeface="Trebuchet MS"/>
              </a:rPr>
              <a:t>Promote</a:t>
            </a:r>
            <a:r>
              <a:rPr sz="3200" b="1" spc="-15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Responsible</a:t>
            </a:r>
            <a:r>
              <a:rPr sz="3200" b="1" spc="-150" dirty="0">
                <a:latin typeface="Trebuchet MS"/>
                <a:cs typeface="Trebuchet MS"/>
              </a:rPr>
              <a:t> </a:t>
            </a:r>
            <a:r>
              <a:rPr sz="3200" b="1" spc="-50" dirty="0">
                <a:latin typeface="Trebuchet MS"/>
                <a:cs typeface="Trebuchet MS"/>
              </a:rPr>
              <a:t>Waste</a:t>
            </a:r>
            <a:r>
              <a:rPr sz="3200" b="1" spc="-145" dirty="0">
                <a:latin typeface="Trebuchet MS"/>
                <a:cs typeface="Trebuchet MS"/>
              </a:rPr>
              <a:t> </a:t>
            </a:r>
            <a:r>
              <a:rPr sz="3200" b="1" spc="-50" dirty="0">
                <a:latin typeface="Trebuchet MS"/>
                <a:cs typeface="Trebuchet MS"/>
              </a:rPr>
              <a:t>Habits: </a:t>
            </a:r>
            <a:r>
              <a:rPr sz="3200" dirty="0">
                <a:latin typeface="Trebuchet MS"/>
                <a:cs typeface="Trebuchet MS"/>
              </a:rPr>
              <a:t>Conduct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continuous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awareness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programs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educate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residents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about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waste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segregation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55" dirty="0">
                <a:latin typeface="Trebuchet MS"/>
                <a:cs typeface="Trebuchet MS"/>
              </a:rPr>
              <a:t>(dry/wet)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and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proper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disposal </a:t>
            </a:r>
            <a:r>
              <a:rPr sz="3200" spc="-10" dirty="0">
                <a:latin typeface="Trebuchet MS"/>
                <a:cs typeface="Trebuchet MS"/>
              </a:rPr>
              <a:t>methods.</a:t>
            </a:r>
            <a:endParaRPr sz="3200">
              <a:latin typeface="Trebuchet MS"/>
              <a:cs typeface="Trebuchet MS"/>
            </a:endParaRPr>
          </a:p>
          <a:p>
            <a:pPr marL="12700" marR="393700">
              <a:lnSpc>
                <a:spcPct val="113300"/>
              </a:lnSpc>
            </a:pPr>
            <a:r>
              <a:rPr sz="3200" b="1" spc="-35" dirty="0">
                <a:latin typeface="Trebuchet MS"/>
                <a:cs typeface="Trebuchet MS"/>
              </a:rPr>
              <a:t>Strengthen</a:t>
            </a:r>
            <a:r>
              <a:rPr sz="3200" b="1" spc="-150" dirty="0">
                <a:latin typeface="Trebuchet MS"/>
                <a:cs typeface="Trebuchet MS"/>
              </a:rPr>
              <a:t> </a:t>
            </a:r>
            <a:r>
              <a:rPr sz="3200" b="1" spc="-65" dirty="0">
                <a:latin typeface="Trebuchet MS"/>
                <a:cs typeface="Trebuchet MS"/>
              </a:rPr>
              <a:t>Local</a:t>
            </a:r>
            <a:r>
              <a:rPr sz="3200" b="1" spc="-150" dirty="0">
                <a:latin typeface="Trebuchet MS"/>
                <a:cs typeface="Trebuchet MS"/>
              </a:rPr>
              <a:t> </a:t>
            </a:r>
            <a:r>
              <a:rPr sz="3200" b="1" spc="-65" dirty="0">
                <a:latin typeface="Trebuchet MS"/>
                <a:cs typeface="Trebuchet MS"/>
              </a:rPr>
              <a:t>Coordination</a:t>
            </a:r>
            <a:r>
              <a:rPr sz="3200" spc="-65" dirty="0">
                <a:latin typeface="Trebuchet MS"/>
                <a:cs typeface="Trebuchet MS"/>
              </a:rPr>
              <a:t>: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Appoint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60" dirty="0">
                <a:latin typeface="Trebuchet MS"/>
                <a:cs typeface="Trebuchet MS"/>
              </a:rPr>
              <a:t>or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assign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a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community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volunteer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to </a:t>
            </a:r>
            <a:r>
              <a:rPr sz="3200" dirty="0">
                <a:latin typeface="Trebuchet MS"/>
                <a:cs typeface="Trebuchet MS"/>
              </a:rPr>
              <a:t>monitor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cleanliness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and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act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as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a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bridge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between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residents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and</a:t>
            </a:r>
            <a:r>
              <a:rPr sz="3200" spc="-3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local authorities.</a:t>
            </a:r>
            <a:endParaRPr sz="3200">
              <a:latin typeface="Trebuchet MS"/>
              <a:cs typeface="Trebuchet MS"/>
            </a:endParaRPr>
          </a:p>
          <a:p>
            <a:pPr marL="12700" marR="5080">
              <a:lnSpc>
                <a:spcPct val="113300"/>
              </a:lnSpc>
            </a:pPr>
            <a:r>
              <a:rPr sz="3200" b="1" dirty="0">
                <a:latin typeface="Trebuchet MS"/>
                <a:cs typeface="Trebuchet MS"/>
              </a:rPr>
              <a:t>Sustain</a:t>
            </a:r>
            <a:r>
              <a:rPr sz="3200" b="1" spc="-140" dirty="0">
                <a:latin typeface="Trebuchet MS"/>
                <a:cs typeface="Trebuchet MS"/>
              </a:rPr>
              <a:t> </a:t>
            </a:r>
            <a:r>
              <a:rPr sz="3200" b="1" spc="-75" dirty="0">
                <a:latin typeface="Trebuchet MS"/>
                <a:cs typeface="Trebuchet MS"/>
              </a:rPr>
              <a:t>Community</a:t>
            </a:r>
            <a:r>
              <a:rPr sz="3200" b="1" spc="-140" dirty="0">
                <a:latin typeface="Trebuchet MS"/>
                <a:cs typeface="Trebuchet MS"/>
              </a:rPr>
              <a:t> </a:t>
            </a:r>
            <a:r>
              <a:rPr sz="3200" b="1" spc="-80" dirty="0">
                <a:latin typeface="Trebuchet MS"/>
                <a:cs typeface="Trebuchet MS"/>
              </a:rPr>
              <a:t>Drives:</a:t>
            </a:r>
            <a:r>
              <a:rPr sz="3200" b="1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Organize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regular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cleanliness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and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awareness</a:t>
            </a:r>
            <a:r>
              <a:rPr sz="3200" spc="-4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drives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ensure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65" dirty="0">
                <a:latin typeface="Trebuchet MS"/>
                <a:cs typeface="Trebuchet MS"/>
              </a:rPr>
              <a:t>long-</a:t>
            </a:r>
            <a:r>
              <a:rPr sz="3200" spc="-10" dirty="0">
                <a:latin typeface="Trebuchet MS"/>
                <a:cs typeface="Trebuchet MS"/>
              </a:rPr>
              <a:t>term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behavioral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change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and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community</a:t>
            </a:r>
            <a:r>
              <a:rPr sz="3200" spc="-2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responsibility.</a:t>
            </a:r>
            <a:endParaRPr sz="3200">
              <a:latin typeface="Trebuchet MS"/>
              <a:cs typeface="Trebuchet MS"/>
            </a:endParaRPr>
          </a:p>
          <a:p>
            <a:pPr marL="12700" marR="294005">
              <a:lnSpc>
                <a:spcPct val="113300"/>
              </a:lnSpc>
            </a:pPr>
            <a:r>
              <a:rPr sz="3200" b="1" spc="-40" dirty="0">
                <a:latin typeface="Trebuchet MS"/>
                <a:cs typeface="Trebuchet MS"/>
              </a:rPr>
              <a:t>Involve</a:t>
            </a:r>
            <a:r>
              <a:rPr sz="3200" b="1" spc="-180" dirty="0">
                <a:latin typeface="Trebuchet MS"/>
                <a:cs typeface="Trebuchet MS"/>
              </a:rPr>
              <a:t> </a:t>
            </a:r>
            <a:r>
              <a:rPr sz="3200" b="1" spc="-90" dirty="0">
                <a:latin typeface="Trebuchet MS"/>
                <a:cs typeface="Trebuchet MS"/>
              </a:rPr>
              <a:t>Youth</a:t>
            </a:r>
            <a:r>
              <a:rPr sz="3200" b="1" spc="-18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and</a:t>
            </a:r>
            <a:r>
              <a:rPr sz="3200" b="1" spc="-175" dirty="0">
                <a:latin typeface="Trebuchet MS"/>
                <a:cs typeface="Trebuchet MS"/>
              </a:rPr>
              <a:t> </a:t>
            </a:r>
            <a:r>
              <a:rPr sz="3200" b="1" spc="-25" dirty="0">
                <a:latin typeface="Trebuchet MS"/>
                <a:cs typeface="Trebuchet MS"/>
              </a:rPr>
              <a:t>Schools:</a:t>
            </a:r>
            <a:r>
              <a:rPr sz="3200" b="1" spc="-17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Encourage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students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and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youth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groups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to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actively take </a:t>
            </a:r>
            <a:r>
              <a:rPr sz="3200" dirty="0">
                <a:latin typeface="Trebuchet MS"/>
                <a:cs typeface="Trebuchet MS"/>
              </a:rPr>
              <a:t>part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maintaining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cleanliness</a:t>
            </a:r>
            <a:r>
              <a:rPr sz="3200" spc="-5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and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spreading</a:t>
            </a:r>
            <a:r>
              <a:rPr sz="3200" spc="-5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awareness</a:t>
            </a:r>
            <a:r>
              <a:rPr sz="3200" spc="-10" dirty="0">
                <a:latin typeface="Trebuchet MS"/>
                <a:cs typeface="Trebuchet MS"/>
              </a:rPr>
              <a:t> </a:t>
            </a:r>
            <a:r>
              <a:rPr sz="3200" dirty="0">
                <a:latin typeface="Trebuchet MS"/>
                <a:cs typeface="Trebuchet MS"/>
              </a:rPr>
              <a:t>in</a:t>
            </a:r>
            <a:r>
              <a:rPr sz="3200" spc="-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their surroundings.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9699" y="3889028"/>
            <a:ext cx="123825" cy="1238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9699" y="5546378"/>
            <a:ext cx="123825" cy="1238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9699" y="7203728"/>
            <a:ext cx="123825" cy="123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9699" y="8308628"/>
            <a:ext cx="123825" cy="1238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73701" y="305447"/>
            <a:ext cx="4640580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300" b="1" spc="-375" dirty="0">
                <a:latin typeface="Arial"/>
                <a:cs typeface="Arial"/>
              </a:rPr>
              <a:t>Conclusion</a:t>
            </a:r>
            <a:endParaRPr sz="73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9674" y="1750940"/>
            <a:ext cx="142875" cy="1428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48358" y="1483351"/>
            <a:ext cx="15824835" cy="801243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14350">
              <a:lnSpc>
                <a:spcPts val="4500"/>
              </a:lnSpc>
              <a:spcBef>
                <a:spcPts val="155"/>
              </a:spcBef>
            </a:pPr>
            <a:r>
              <a:rPr sz="3650" b="1" spc="-35" dirty="0">
                <a:latin typeface="Trebuchet MS"/>
                <a:cs typeface="Trebuchet MS"/>
              </a:rPr>
              <a:t>Identified</a:t>
            </a:r>
            <a:r>
              <a:rPr sz="3650" b="1" spc="-204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Root</a:t>
            </a:r>
            <a:r>
              <a:rPr sz="3650" b="1" spc="-204" dirty="0">
                <a:latin typeface="Trebuchet MS"/>
                <a:cs typeface="Trebuchet MS"/>
              </a:rPr>
              <a:t> </a:t>
            </a:r>
            <a:r>
              <a:rPr sz="3650" b="1" spc="-60" dirty="0">
                <a:latin typeface="Trebuchet MS"/>
                <a:cs typeface="Trebuchet MS"/>
              </a:rPr>
              <a:t>Causes:</a:t>
            </a:r>
            <a:r>
              <a:rPr sz="3650" b="1" spc="-10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The</a:t>
            </a:r>
            <a:r>
              <a:rPr sz="3650" spc="-100" dirty="0">
                <a:latin typeface="Trebuchet MS"/>
                <a:cs typeface="Trebuchet MS"/>
              </a:rPr>
              <a:t> </a:t>
            </a:r>
            <a:r>
              <a:rPr sz="3650" spc="45" dirty="0">
                <a:latin typeface="Trebuchet MS"/>
                <a:cs typeface="Trebuchet MS"/>
              </a:rPr>
              <a:t>internship</a:t>
            </a:r>
            <a:r>
              <a:rPr sz="3650" spc="-100" dirty="0">
                <a:latin typeface="Trebuchet MS"/>
                <a:cs typeface="Trebuchet MS"/>
              </a:rPr>
              <a:t> </a:t>
            </a:r>
            <a:r>
              <a:rPr sz="3650" spc="45" dirty="0">
                <a:latin typeface="Trebuchet MS"/>
                <a:cs typeface="Trebuchet MS"/>
              </a:rPr>
              <a:t>provided</a:t>
            </a:r>
            <a:r>
              <a:rPr sz="3650" spc="-10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valuable</a:t>
            </a:r>
            <a:r>
              <a:rPr sz="3650" spc="-100" dirty="0">
                <a:latin typeface="Trebuchet MS"/>
                <a:cs typeface="Trebuchet MS"/>
              </a:rPr>
              <a:t> </a:t>
            </a:r>
            <a:r>
              <a:rPr sz="3650" spc="-10" dirty="0">
                <a:latin typeface="Trebuchet MS"/>
                <a:cs typeface="Trebuchet MS"/>
              </a:rPr>
              <a:t>exposure, </a:t>
            </a:r>
            <a:r>
              <a:rPr sz="3650" dirty="0">
                <a:latin typeface="Trebuchet MS"/>
                <a:cs typeface="Trebuchet MS"/>
              </a:rPr>
              <a:t>revealing</a:t>
            </a:r>
            <a:r>
              <a:rPr sz="3650" spc="-14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that</a:t>
            </a:r>
            <a:r>
              <a:rPr sz="3650" spc="-14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recurring</a:t>
            </a:r>
            <a:r>
              <a:rPr sz="3650" spc="-140" dirty="0">
                <a:latin typeface="Trebuchet MS"/>
                <a:cs typeface="Trebuchet MS"/>
              </a:rPr>
              <a:t> </a:t>
            </a:r>
            <a:r>
              <a:rPr sz="3650" spc="-20" dirty="0">
                <a:latin typeface="Trebuchet MS"/>
                <a:cs typeface="Trebuchet MS"/>
              </a:rPr>
              <a:t>civic</a:t>
            </a:r>
            <a:r>
              <a:rPr sz="3650" spc="-140" dirty="0">
                <a:latin typeface="Trebuchet MS"/>
                <a:cs typeface="Trebuchet MS"/>
              </a:rPr>
              <a:t> </a:t>
            </a:r>
            <a:r>
              <a:rPr sz="3650" spc="114" dirty="0">
                <a:latin typeface="Trebuchet MS"/>
                <a:cs typeface="Trebuchet MS"/>
              </a:rPr>
              <a:t>issues</a:t>
            </a:r>
            <a:r>
              <a:rPr sz="3650" spc="-14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like</a:t>
            </a:r>
            <a:r>
              <a:rPr sz="3650" spc="-14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garbage</a:t>
            </a:r>
            <a:r>
              <a:rPr sz="3650" spc="-140" dirty="0">
                <a:latin typeface="Trebuchet MS"/>
                <a:cs typeface="Trebuchet MS"/>
              </a:rPr>
              <a:t> </a:t>
            </a:r>
            <a:r>
              <a:rPr sz="3650" spc="-10" dirty="0">
                <a:latin typeface="Trebuchet MS"/>
                <a:cs typeface="Trebuchet MS"/>
              </a:rPr>
              <a:t>accumulation,</a:t>
            </a:r>
            <a:r>
              <a:rPr sz="3650" spc="-140" dirty="0">
                <a:latin typeface="Trebuchet MS"/>
                <a:cs typeface="Trebuchet MS"/>
              </a:rPr>
              <a:t> </a:t>
            </a:r>
            <a:r>
              <a:rPr sz="3650" spc="70" dirty="0">
                <a:latin typeface="Trebuchet MS"/>
                <a:cs typeface="Trebuchet MS"/>
              </a:rPr>
              <a:t>mosquito </a:t>
            </a:r>
            <a:r>
              <a:rPr sz="3650" spc="-10" dirty="0">
                <a:latin typeface="Trebuchet MS"/>
                <a:cs typeface="Trebuchet MS"/>
              </a:rPr>
              <a:t>breeding,</a:t>
            </a:r>
            <a:r>
              <a:rPr sz="3650" spc="-65" dirty="0">
                <a:latin typeface="Trebuchet MS"/>
                <a:cs typeface="Trebuchet MS"/>
              </a:rPr>
              <a:t> </a:t>
            </a:r>
            <a:r>
              <a:rPr sz="3650" spc="114" dirty="0">
                <a:latin typeface="Trebuchet MS"/>
                <a:cs typeface="Trebuchet MS"/>
              </a:rPr>
              <a:t>and</a:t>
            </a:r>
            <a:r>
              <a:rPr sz="3650" spc="-6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drainage</a:t>
            </a:r>
            <a:r>
              <a:rPr sz="3650" spc="-6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blockages</a:t>
            </a:r>
            <a:r>
              <a:rPr sz="3650" spc="-6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significantly</a:t>
            </a:r>
            <a:r>
              <a:rPr sz="3650" spc="-60" dirty="0">
                <a:latin typeface="Trebuchet MS"/>
                <a:cs typeface="Trebuchet MS"/>
              </a:rPr>
              <a:t> </a:t>
            </a:r>
            <a:r>
              <a:rPr sz="3650" spc="-70" dirty="0">
                <a:latin typeface="Trebuchet MS"/>
                <a:cs typeface="Trebuchet MS"/>
              </a:rPr>
              <a:t>affect</a:t>
            </a:r>
            <a:r>
              <a:rPr sz="3650" spc="-6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the</a:t>
            </a:r>
            <a:r>
              <a:rPr sz="3650" spc="-6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quality</a:t>
            </a:r>
            <a:r>
              <a:rPr sz="3650" spc="-6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of</a:t>
            </a:r>
            <a:r>
              <a:rPr sz="3650" spc="-65" dirty="0">
                <a:latin typeface="Trebuchet MS"/>
                <a:cs typeface="Trebuchet MS"/>
              </a:rPr>
              <a:t> </a:t>
            </a:r>
            <a:r>
              <a:rPr sz="3650" spc="-20" dirty="0">
                <a:latin typeface="Trebuchet MS"/>
                <a:cs typeface="Trebuchet MS"/>
              </a:rPr>
              <a:t>life.</a:t>
            </a:r>
            <a:endParaRPr sz="3650" dirty="0">
              <a:latin typeface="Trebuchet MS"/>
              <a:cs typeface="Trebuchet MS"/>
            </a:endParaRPr>
          </a:p>
          <a:p>
            <a:pPr marL="12700" marR="678815">
              <a:lnSpc>
                <a:spcPts val="4500"/>
              </a:lnSpc>
            </a:pPr>
            <a:r>
              <a:rPr sz="3650" b="1" spc="-95" dirty="0">
                <a:latin typeface="Trebuchet MS"/>
                <a:cs typeface="Trebuchet MS"/>
              </a:rPr>
              <a:t>Created</a:t>
            </a:r>
            <a:r>
              <a:rPr sz="3650" b="1" spc="-155" dirty="0">
                <a:latin typeface="Trebuchet MS"/>
                <a:cs typeface="Trebuchet MS"/>
              </a:rPr>
              <a:t> </a:t>
            </a:r>
            <a:r>
              <a:rPr sz="3650" b="1" spc="-95" dirty="0">
                <a:latin typeface="Trebuchet MS"/>
                <a:cs typeface="Trebuchet MS"/>
              </a:rPr>
              <a:t>Awareness:</a:t>
            </a:r>
            <a:r>
              <a:rPr sz="3650" b="1" spc="-15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Conducted</a:t>
            </a:r>
            <a:r>
              <a:rPr sz="3650" spc="-4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surveys,</a:t>
            </a:r>
            <a:r>
              <a:rPr sz="3650" spc="-4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poster</a:t>
            </a:r>
            <a:r>
              <a:rPr sz="3650" spc="-4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campaigns,</a:t>
            </a:r>
            <a:r>
              <a:rPr sz="3650" spc="-40" dirty="0">
                <a:latin typeface="Trebuchet MS"/>
                <a:cs typeface="Trebuchet MS"/>
              </a:rPr>
              <a:t> </a:t>
            </a:r>
            <a:r>
              <a:rPr sz="3650" spc="114" dirty="0">
                <a:latin typeface="Trebuchet MS"/>
                <a:cs typeface="Trebuchet MS"/>
              </a:rPr>
              <a:t>and</a:t>
            </a:r>
            <a:r>
              <a:rPr sz="3650" spc="-45" dirty="0">
                <a:latin typeface="Trebuchet MS"/>
                <a:cs typeface="Trebuchet MS"/>
              </a:rPr>
              <a:t> </a:t>
            </a:r>
            <a:r>
              <a:rPr sz="3650" spc="80" dirty="0">
                <a:latin typeface="Trebuchet MS"/>
                <a:cs typeface="Trebuchet MS"/>
              </a:rPr>
              <a:t>door-</a:t>
            </a:r>
            <a:r>
              <a:rPr sz="3650" spc="-25" dirty="0">
                <a:latin typeface="Trebuchet MS"/>
                <a:cs typeface="Trebuchet MS"/>
              </a:rPr>
              <a:t>to- </a:t>
            </a:r>
            <a:r>
              <a:rPr sz="3650" spc="105" dirty="0">
                <a:latin typeface="Trebuchet MS"/>
                <a:cs typeface="Trebuchet MS"/>
              </a:rPr>
              <a:t>door</a:t>
            </a:r>
            <a:r>
              <a:rPr sz="3650" spc="-5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interactions</a:t>
            </a:r>
            <a:r>
              <a:rPr sz="3650" spc="-5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to</a:t>
            </a:r>
            <a:r>
              <a:rPr sz="3650" spc="-50" dirty="0">
                <a:latin typeface="Trebuchet MS"/>
                <a:cs typeface="Trebuchet MS"/>
              </a:rPr>
              <a:t> </a:t>
            </a:r>
            <a:r>
              <a:rPr sz="3650" spc="60" dirty="0">
                <a:latin typeface="Trebuchet MS"/>
                <a:cs typeface="Trebuchet MS"/>
              </a:rPr>
              <a:t>spread</a:t>
            </a:r>
            <a:r>
              <a:rPr sz="3650" spc="-5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awareness</a:t>
            </a:r>
            <a:r>
              <a:rPr sz="3650" spc="-50" dirty="0">
                <a:latin typeface="Trebuchet MS"/>
                <a:cs typeface="Trebuchet MS"/>
              </a:rPr>
              <a:t> </a:t>
            </a:r>
            <a:r>
              <a:rPr sz="3650" spc="65" dirty="0">
                <a:latin typeface="Trebuchet MS"/>
                <a:cs typeface="Trebuchet MS"/>
              </a:rPr>
              <a:t>about</a:t>
            </a:r>
            <a:r>
              <a:rPr sz="3650" spc="-5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cleanliness,</a:t>
            </a:r>
            <a:r>
              <a:rPr sz="3650" spc="-50" dirty="0">
                <a:latin typeface="Trebuchet MS"/>
                <a:cs typeface="Trebuchet MS"/>
              </a:rPr>
              <a:t> </a:t>
            </a:r>
            <a:r>
              <a:rPr sz="3650" spc="-10" dirty="0">
                <a:latin typeface="Trebuchet MS"/>
                <a:cs typeface="Trebuchet MS"/>
              </a:rPr>
              <a:t>waste segregation,</a:t>
            </a:r>
            <a:r>
              <a:rPr sz="3650" spc="-145" dirty="0">
                <a:latin typeface="Trebuchet MS"/>
                <a:cs typeface="Trebuchet MS"/>
              </a:rPr>
              <a:t> </a:t>
            </a:r>
            <a:r>
              <a:rPr sz="3650" spc="114" dirty="0">
                <a:latin typeface="Trebuchet MS"/>
                <a:cs typeface="Trebuchet MS"/>
              </a:rPr>
              <a:t>and</a:t>
            </a:r>
            <a:r>
              <a:rPr sz="3650" spc="-145" dirty="0">
                <a:latin typeface="Trebuchet MS"/>
                <a:cs typeface="Trebuchet MS"/>
              </a:rPr>
              <a:t> </a:t>
            </a:r>
            <a:r>
              <a:rPr sz="3650" spc="-10" dirty="0">
                <a:latin typeface="Trebuchet MS"/>
                <a:cs typeface="Trebuchet MS"/>
              </a:rPr>
              <a:t>hygiene.</a:t>
            </a:r>
            <a:endParaRPr sz="3650" dirty="0">
              <a:latin typeface="Trebuchet MS"/>
              <a:cs typeface="Trebuchet MS"/>
            </a:endParaRPr>
          </a:p>
          <a:p>
            <a:pPr marL="12700" marR="480059">
              <a:lnSpc>
                <a:spcPts val="4500"/>
              </a:lnSpc>
            </a:pPr>
            <a:r>
              <a:rPr sz="3650" b="1" spc="-75" dirty="0">
                <a:latin typeface="Trebuchet MS"/>
                <a:cs typeface="Trebuchet MS"/>
              </a:rPr>
              <a:t>Community</a:t>
            </a:r>
            <a:r>
              <a:rPr sz="3650" b="1" spc="-175" dirty="0">
                <a:latin typeface="Trebuchet MS"/>
                <a:cs typeface="Trebuchet MS"/>
              </a:rPr>
              <a:t> </a:t>
            </a:r>
            <a:r>
              <a:rPr sz="3650" b="1" spc="-85" dirty="0">
                <a:latin typeface="Trebuchet MS"/>
                <a:cs typeface="Trebuchet MS"/>
              </a:rPr>
              <a:t>Involvement:</a:t>
            </a:r>
            <a:r>
              <a:rPr sz="3650" b="1" spc="-17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Encouraged</a:t>
            </a:r>
            <a:r>
              <a:rPr sz="3650" spc="-65" dirty="0">
                <a:latin typeface="Trebuchet MS"/>
                <a:cs typeface="Trebuchet MS"/>
              </a:rPr>
              <a:t> </a:t>
            </a:r>
            <a:r>
              <a:rPr sz="3650" spc="-10" dirty="0">
                <a:latin typeface="Trebuchet MS"/>
                <a:cs typeface="Trebuchet MS"/>
              </a:rPr>
              <a:t>active</a:t>
            </a:r>
            <a:r>
              <a:rPr sz="3650" spc="-7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participation</a:t>
            </a:r>
            <a:r>
              <a:rPr sz="3650" spc="-6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from</a:t>
            </a:r>
            <a:r>
              <a:rPr sz="3650" spc="-70" dirty="0">
                <a:latin typeface="Trebuchet MS"/>
                <a:cs typeface="Trebuchet MS"/>
              </a:rPr>
              <a:t> </a:t>
            </a:r>
            <a:r>
              <a:rPr sz="3650" spc="-10" dirty="0">
                <a:latin typeface="Trebuchet MS"/>
                <a:cs typeface="Trebuchet MS"/>
              </a:rPr>
              <a:t>residents, </a:t>
            </a:r>
            <a:r>
              <a:rPr sz="3650" spc="-25" dirty="0">
                <a:latin typeface="Trebuchet MS"/>
                <a:cs typeface="Trebuchet MS"/>
              </a:rPr>
              <a:t>youth,</a:t>
            </a:r>
            <a:r>
              <a:rPr sz="3650" spc="-55" dirty="0">
                <a:latin typeface="Trebuchet MS"/>
                <a:cs typeface="Trebuchet MS"/>
              </a:rPr>
              <a:t> </a:t>
            </a:r>
            <a:r>
              <a:rPr sz="3650" spc="114" dirty="0">
                <a:latin typeface="Trebuchet MS"/>
                <a:cs typeface="Trebuchet MS"/>
              </a:rPr>
              <a:t>and</a:t>
            </a:r>
            <a:r>
              <a:rPr sz="3650" spc="-50" dirty="0">
                <a:latin typeface="Trebuchet MS"/>
                <a:cs typeface="Trebuchet MS"/>
              </a:rPr>
              <a:t> </a:t>
            </a:r>
            <a:r>
              <a:rPr sz="3650" spc="65" dirty="0">
                <a:latin typeface="Trebuchet MS"/>
                <a:cs typeface="Trebuchet MS"/>
              </a:rPr>
              <a:t>students</a:t>
            </a:r>
            <a:r>
              <a:rPr sz="3650" spc="-55" dirty="0">
                <a:latin typeface="Trebuchet MS"/>
                <a:cs typeface="Trebuchet MS"/>
              </a:rPr>
              <a:t> </a:t>
            </a:r>
            <a:r>
              <a:rPr sz="3650" spc="60" dirty="0">
                <a:latin typeface="Trebuchet MS"/>
                <a:cs typeface="Trebuchet MS"/>
              </a:rPr>
              <a:t>in</a:t>
            </a:r>
            <a:r>
              <a:rPr sz="3650" spc="-5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maintaining</a:t>
            </a:r>
            <a:r>
              <a:rPr sz="3650" spc="-5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clean</a:t>
            </a:r>
            <a:r>
              <a:rPr sz="3650" spc="-55" dirty="0">
                <a:latin typeface="Trebuchet MS"/>
                <a:cs typeface="Trebuchet MS"/>
              </a:rPr>
              <a:t> </a:t>
            </a:r>
            <a:r>
              <a:rPr sz="3650" spc="35" dirty="0">
                <a:latin typeface="Trebuchet MS"/>
                <a:cs typeface="Trebuchet MS"/>
              </a:rPr>
              <a:t>surroundings.</a:t>
            </a:r>
            <a:endParaRPr sz="3650" dirty="0">
              <a:latin typeface="Trebuchet MS"/>
              <a:cs typeface="Trebuchet MS"/>
            </a:endParaRPr>
          </a:p>
          <a:p>
            <a:pPr marL="12700" marR="637540">
              <a:lnSpc>
                <a:spcPts val="4500"/>
              </a:lnSpc>
            </a:pPr>
            <a:r>
              <a:rPr sz="3650" b="1" spc="-70" dirty="0">
                <a:latin typeface="Trebuchet MS"/>
                <a:cs typeface="Trebuchet MS"/>
              </a:rPr>
              <a:t>Enhanced</a:t>
            </a:r>
            <a:r>
              <a:rPr sz="3650" b="1" spc="-204" dirty="0">
                <a:latin typeface="Trebuchet MS"/>
                <a:cs typeface="Trebuchet MS"/>
              </a:rPr>
              <a:t> </a:t>
            </a:r>
            <a:r>
              <a:rPr sz="3650" b="1" spc="-20" dirty="0">
                <a:latin typeface="Trebuchet MS"/>
                <a:cs typeface="Trebuchet MS"/>
              </a:rPr>
              <a:t>Skills:</a:t>
            </a:r>
            <a:r>
              <a:rPr sz="3650" b="1" spc="-200" dirty="0">
                <a:latin typeface="Trebuchet MS"/>
                <a:cs typeface="Trebuchet MS"/>
              </a:rPr>
              <a:t> </a:t>
            </a:r>
            <a:r>
              <a:rPr sz="3650" spc="45" dirty="0">
                <a:latin typeface="Trebuchet MS"/>
                <a:cs typeface="Trebuchet MS"/>
              </a:rPr>
              <a:t>Improved</a:t>
            </a:r>
            <a:r>
              <a:rPr sz="3650" spc="-9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important</a:t>
            </a:r>
            <a:r>
              <a:rPr sz="3650" spc="-100" dirty="0">
                <a:latin typeface="Trebuchet MS"/>
                <a:cs typeface="Trebuchet MS"/>
              </a:rPr>
              <a:t> </a:t>
            </a:r>
            <a:r>
              <a:rPr sz="3650" spc="50" dirty="0">
                <a:latin typeface="Trebuchet MS"/>
                <a:cs typeface="Trebuchet MS"/>
              </a:rPr>
              <a:t>social</a:t>
            </a:r>
            <a:r>
              <a:rPr sz="3650" spc="-95" dirty="0">
                <a:latin typeface="Trebuchet MS"/>
                <a:cs typeface="Trebuchet MS"/>
              </a:rPr>
              <a:t> </a:t>
            </a:r>
            <a:r>
              <a:rPr sz="3650" spc="65" dirty="0">
                <a:latin typeface="Trebuchet MS"/>
                <a:cs typeface="Trebuchet MS"/>
              </a:rPr>
              <a:t>skills</a:t>
            </a:r>
            <a:r>
              <a:rPr sz="3650" spc="-9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like</a:t>
            </a:r>
            <a:r>
              <a:rPr sz="3650" spc="-100" dirty="0">
                <a:latin typeface="Trebuchet MS"/>
                <a:cs typeface="Trebuchet MS"/>
              </a:rPr>
              <a:t> </a:t>
            </a:r>
            <a:r>
              <a:rPr sz="3650" spc="-10" dirty="0">
                <a:latin typeface="Trebuchet MS"/>
                <a:cs typeface="Trebuchet MS"/>
              </a:rPr>
              <a:t>teamwork, </a:t>
            </a:r>
            <a:r>
              <a:rPr sz="3650" dirty="0">
                <a:latin typeface="Trebuchet MS"/>
                <a:cs typeface="Trebuchet MS"/>
              </a:rPr>
              <a:t>leadership,</a:t>
            </a:r>
            <a:r>
              <a:rPr sz="3650" spc="-50" dirty="0">
                <a:latin typeface="Trebuchet MS"/>
                <a:cs typeface="Trebuchet MS"/>
              </a:rPr>
              <a:t> </a:t>
            </a:r>
            <a:r>
              <a:rPr sz="3650" spc="-45" dirty="0">
                <a:latin typeface="Trebuchet MS"/>
                <a:cs typeface="Trebuchet MS"/>
              </a:rPr>
              <a:t>empathy, </a:t>
            </a:r>
            <a:r>
              <a:rPr sz="3650" spc="114" dirty="0">
                <a:latin typeface="Trebuchet MS"/>
                <a:cs typeface="Trebuchet MS"/>
              </a:rPr>
              <a:t>and</a:t>
            </a:r>
            <a:r>
              <a:rPr sz="3650" spc="-5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communication</a:t>
            </a:r>
            <a:r>
              <a:rPr sz="3650" spc="-4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while</a:t>
            </a:r>
            <a:r>
              <a:rPr sz="3650" spc="-5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working</a:t>
            </a:r>
            <a:r>
              <a:rPr sz="3650" spc="-4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closely</a:t>
            </a:r>
            <a:r>
              <a:rPr sz="3650" spc="-5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with</a:t>
            </a:r>
            <a:r>
              <a:rPr sz="3650" spc="-45" dirty="0">
                <a:latin typeface="Trebuchet MS"/>
                <a:cs typeface="Trebuchet MS"/>
              </a:rPr>
              <a:t> </a:t>
            </a:r>
            <a:r>
              <a:rPr sz="3650" spc="-25" dirty="0">
                <a:latin typeface="Trebuchet MS"/>
                <a:cs typeface="Trebuchet MS"/>
              </a:rPr>
              <a:t>the </a:t>
            </a:r>
            <a:r>
              <a:rPr sz="3650" spc="-10" dirty="0">
                <a:latin typeface="Trebuchet MS"/>
                <a:cs typeface="Trebuchet MS"/>
              </a:rPr>
              <a:t>community.</a:t>
            </a:r>
            <a:endParaRPr sz="3650" dirty="0">
              <a:latin typeface="Trebuchet MS"/>
              <a:cs typeface="Trebuchet MS"/>
            </a:endParaRPr>
          </a:p>
          <a:p>
            <a:pPr marL="12700" marR="5080">
              <a:lnSpc>
                <a:spcPts val="4500"/>
              </a:lnSpc>
            </a:pPr>
            <a:r>
              <a:rPr sz="3650" b="1" spc="-75" dirty="0">
                <a:latin typeface="Trebuchet MS"/>
                <a:cs typeface="Trebuchet MS"/>
              </a:rPr>
              <a:t>Overall</a:t>
            </a:r>
            <a:r>
              <a:rPr sz="3650" b="1" spc="-155" dirty="0">
                <a:latin typeface="Trebuchet MS"/>
                <a:cs typeface="Trebuchet MS"/>
              </a:rPr>
              <a:t> </a:t>
            </a:r>
            <a:r>
              <a:rPr sz="3650" b="1" spc="-130" dirty="0">
                <a:latin typeface="Trebuchet MS"/>
                <a:cs typeface="Trebuchet MS"/>
              </a:rPr>
              <a:t>Outcome:</a:t>
            </a:r>
            <a:r>
              <a:rPr sz="3650" b="1" spc="-15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The</a:t>
            </a:r>
            <a:r>
              <a:rPr sz="3650" spc="-40" dirty="0">
                <a:latin typeface="Trebuchet MS"/>
                <a:cs typeface="Trebuchet MS"/>
              </a:rPr>
              <a:t> </a:t>
            </a:r>
            <a:r>
              <a:rPr sz="3650" spc="-45" dirty="0">
                <a:latin typeface="Trebuchet MS"/>
                <a:cs typeface="Trebuchet MS"/>
              </a:rPr>
              <a:t>project </a:t>
            </a:r>
            <a:r>
              <a:rPr sz="3650" dirty="0">
                <a:latin typeface="Trebuchet MS"/>
                <a:cs typeface="Trebuchet MS"/>
              </a:rPr>
              <a:t>successfully</a:t>
            </a:r>
            <a:r>
              <a:rPr sz="3650" spc="-4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promoted</a:t>
            </a:r>
            <a:r>
              <a:rPr sz="3650" spc="-4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cleanliness,</a:t>
            </a:r>
            <a:r>
              <a:rPr sz="3650" spc="-45" dirty="0">
                <a:latin typeface="Trebuchet MS"/>
                <a:cs typeface="Trebuchet MS"/>
              </a:rPr>
              <a:t> </a:t>
            </a:r>
            <a:r>
              <a:rPr sz="3650" spc="-20" dirty="0">
                <a:latin typeface="Trebuchet MS"/>
                <a:cs typeface="Trebuchet MS"/>
              </a:rPr>
              <a:t>civic </a:t>
            </a:r>
            <a:r>
              <a:rPr sz="3650" dirty="0">
                <a:latin typeface="Trebuchet MS"/>
                <a:cs typeface="Trebuchet MS"/>
              </a:rPr>
              <a:t>responsibility,</a:t>
            </a:r>
            <a:r>
              <a:rPr sz="3650" spc="20" dirty="0">
                <a:latin typeface="Trebuchet MS"/>
                <a:cs typeface="Trebuchet MS"/>
              </a:rPr>
              <a:t> </a:t>
            </a:r>
            <a:r>
              <a:rPr sz="3650" spc="114" dirty="0">
                <a:latin typeface="Trebuchet MS"/>
                <a:cs typeface="Trebuchet MS"/>
              </a:rPr>
              <a:t>and</a:t>
            </a:r>
            <a:r>
              <a:rPr sz="3650" spc="2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community</a:t>
            </a:r>
            <a:r>
              <a:rPr sz="3650" spc="2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awareness</a:t>
            </a:r>
            <a:r>
              <a:rPr sz="3650" spc="25" dirty="0">
                <a:latin typeface="Trebuchet MS"/>
                <a:cs typeface="Trebuchet MS"/>
              </a:rPr>
              <a:t> </a:t>
            </a:r>
            <a:r>
              <a:rPr sz="3650" spc="60" dirty="0">
                <a:latin typeface="Trebuchet MS"/>
                <a:cs typeface="Trebuchet MS"/>
              </a:rPr>
              <a:t>in</a:t>
            </a:r>
            <a:r>
              <a:rPr sz="3650" spc="2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leading</a:t>
            </a:r>
            <a:r>
              <a:rPr sz="3650" spc="3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to</a:t>
            </a:r>
            <a:r>
              <a:rPr sz="3650" spc="2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meaningful</a:t>
            </a:r>
            <a:r>
              <a:rPr sz="3650" spc="25" dirty="0">
                <a:latin typeface="Trebuchet MS"/>
                <a:cs typeface="Trebuchet MS"/>
              </a:rPr>
              <a:t> </a:t>
            </a:r>
            <a:r>
              <a:rPr sz="3650" spc="-10" dirty="0">
                <a:latin typeface="Trebuchet MS"/>
                <a:cs typeface="Trebuchet MS"/>
              </a:rPr>
              <a:t>learning </a:t>
            </a:r>
            <a:r>
              <a:rPr sz="3650" spc="114" dirty="0">
                <a:latin typeface="Trebuchet MS"/>
                <a:cs typeface="Trebuchet MS"/>
              </a:rPr>
              <a:t>and</a:t>
            </a:r>
            <a:r>
              <a:rPr sz="3650" spc="7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positive</a:t>
            </a:r>
            <a:r>
              <a:rPr sz="3650" spc="8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environmental</a:t>
            </a:r>
            <a:r>
              <a:rPr sz="3650" spc="75" dirty="0">
                <a:latin typeface="Trebuchet MS"/>
                <a:cs typeface="Trebuchet MS"/>
              </a:rPr>
              <a:t> </a:t>
            </a:r>
            <a:r>
              <a:rPr sz="3650" spc="-10" dirty="0">
                <a:latin typeface="Trebuchet MS"/>
                <a:cs typeface="Trebuchet MS"/>
              </a:rPr>
              <a:t>change.</a:t>
            </a:r>
            <a:endParaRPr sz="3650" dirty="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9674" y="3465440"/>
            <a:ext cx="142875" cy="142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9674" y="5179939"/>
            <a:ext cx="142875" cy="1428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9674" y="6322939"/>
            <a:ext cx="142875" cy="1428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9674" y="8037439"/>
            <a:ext cx="142875" cy="1428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736B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287" y="5065709"/>
            <a:ext cx="7972424" cy="1523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296168" y="715094"/>
            <a:ext cx="1095375" cy="627380"/>
            <a:chOff x="1296168" y="715094"/>
            <a:chExt cx="1095375" cy="627380"/>
          </a:xfrm>
        </p:grpSpPr>
        <p:sp>
          <p:nvSpPr>
            <p:cNvPr id="5" name="object 5"/>
            <p:cNvSpPr/>
            <p:nvPr/>
          </p:nvSpPr>
          <p:spPr>
            <a:xfrm>
              <a:off x="1296168" y="1025228"/>
              <a:ext cx="366395" cy="317500"/>
            </a:xfrm>
            <a:custGeom>
              <a:avLst/>
              <a:gdLst/>
              <a:ahLst/>
              <a:cxnLst/>
              <a:rect l="l" t="t" r="r" b="b"/>
              <a:pathLst>
                <a:path w="366394" h="317500">
                  <a:moveTo>
                    <a:pt x="274446" y="316991"/>
                  </a:moveTo>
                  <a:lnTo>
                    <a:pt x="91566" y="316991"/>
                  </a:lnTo>
                  <a:lnTo>
                    <a:pt x="0" y="158622"/>
                  </a:lnTo>
                  <a:lnTo>
                    <a:pt x="91566" y="0"/>
                  </a:lnTo>
                  <a:lnTo>
                    <a:pt x="274446" y="0"/>
                  </a:lnTo>
                  <a:lnTo>
                    <a:pt x="366013" y="158622"/>
                  </a:lnTo>
                  <a:lnTo>
                    <a:pt x="274446" y="316991"/>
                  </a:lnTo>
                  <a:close/>
                </a:path>
              </a:pathLst>
            </a:custGeom>
            <a:solidFill>
              <a:srgbClr val="86C7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78920" y="715094"/>
              <a:ext cx="549275" cy="627380"/>
            </a:xfrm>
            <a:custGeom>
              <a:avLst/>
              <a:gdLst/>
              <a:ahLst/>
              <a:cxnLst/>
              <a:rect l="l" t="t" r="r" b="b"/>
              <a:pathLst>
                <a:path w="549275" h="627380">
                  <a:moveTo>
                    <a:pt x="457579" y="627124"/>
                  </a:moveTo>
                  <a:lnTo>
                    <a:pt x="274446" y="627124"/>
                  </a:lnTo>
                  <a:lnTo>
                    <a:pt x="0" y="151764"/>
                  </a:lnTo>
                  <a:lnTo>
                    <a:pt x="87883" y="0"/>
                  </a:lnTo>
                  <a:lnTo>
                    <a:pt x="278256" y="0"/>
                  </a:lnTo>
                  <a:lnTo>
                    <a:pt x="485011" y="358012"/>
                  </a:lnTo>
                  <a:lnTo>
                    <a:pt x="491234" y="368680"/>
                  </a:lnTo>
                  <a:lnTo>
                    <a:pt x="548765" y="468755"/>
                  </a:lnTo>
                  <a:lnTo>
                    <a:pt x="457579" y="6271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44933" y="715094"/>
              <a:ext cx="546100" cy="627380"/>
            </a:xfrm>
            <a:custGeom>
              <a:avLst/>
              <a:gdLst/>
              <a:ahLst/>
              <a:cxnLst/>
              <a:rect l="l" t="t" r="r" b="b"/>
              <a:pathLst>
                <a:path w="546100" h="627380">
                  <a:moveTo>
                    <a:pt x="457198" y="627251"/>
                  </a:moveTo>
                  <a:lnTo>
                    <a:pt x="274319" y="627251"/>
                  </a:lnTo>
                  <a:lnTo>
                    <a:pt x="182752" y="468882"/>
                  </a:lnTo>
                  <a:lnTo>
                    <a:pt x="183006" y="468374"/>
                  </a:lnTo>
                  <a:lnTo>
                    <a:pt x="121068" y="361187"/>
                  </a:lnTo>
                  <a:lnTo>
                    <a:pt x="0" y="151764"/>
                  </a:lnTo>
                  <a:lnTo>
                    <a:pt x="87883" y="0"/>
                  </a:lnTo>
                  <a:lnTo>
                    <a:pt x="278256" y="0"/>
                  </a:lnTo>
                  <a:lnTo>
                    <a:pt x="329945" y="89407"/>
                  </a:lnTo>
                  <a:lnTo>
                    <a:pt x="330472" y="89407"/>
                  </a:lnTo>
                  <a:lnTo>
                    <a:pt x="486789" y="361059"/>
                  </a:lnTo>
                  <a:lnTo>
                    <a:pt x="486535" y="361187"/>
                  </a:lnTo>
                  <a:lnTo>
                    <a:pt x="546098" y="464437"/>
                  </a:lnTo>
                  <a:lnTo>
                    <a:pt x="546098" y="473454"/>
                  </a:lnTo>
                  <a:lnTo>
                    <a:pt x="457198" y="627251"/>
                  </a:lnTo>
                  <a:close/>
                </a:path>
                <a:path w="546100" h="627380">
                  <a:moveTo>
                    <a:pt x="330472" y="89407"/>
                  </a:moveTo>
                  <a:lnTo>
                    <a:pt x="329945" y="89407"/>
                  </a:lnTo>
                  <a:lnTo>
                    <a:pt x="330326" y="89153"/>
                  </a:lnTo>
                  <a:lnTo>
                    <a:pt x="330472" y="89407"/>
                  </a:lnTo>
                  <a:close/>
                </a:path>
              </a:pathLst>
            </a:custGeom>
            <a:solidFill>
              <a:srgbClr val="A066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1362096" y="1028646"/>
            <a:ext cx="6925945" cy="9258935"/>
            <a:chOff x="11362096" y="1028646"/>
            <a:chExt cx="6925945" cy="9258935"/>
          </a:xfrm>
        </p:grpSpPr>
        <p:sp>
          <p:nvSpPr>
            <p:cNvPr id="9" name="object 9"/>
            <p:cNvSpPr/>
            <p:nvPr/>
          </p:nvSpPr>
          <p:spPr>
            <a:xfrm>
              <a:off x="11362096" y="8160632"/>
              <a:ext cx="2789555" cy="2126615"/>
            </a:xfrm>
            <a:custGeom>
              <a:avLst/>
              <a:gdLst/>
              <a:ahLst/>
              <a:cxnLst/>
              <a:rect l="l" t="t" r="r" b="b"/>
              <a:pathLst>
                <a:path w="2789555" h="2126615">
                  <a:moveTo>
                    <a:pt x="2258439" y="2126360"/>
                  </a:moveTo>
                  <a:lnTo>
                    <a:pt x="530733" y="2126360"/>
                  </a:lnTo>
                  <a:lnTo>
                    <a:pt x="0" y="1209040"/>
                  </a:lnTo>
                  <a:lnTo>
                    <a:pt x="697992" y="0"/>
                  </a:lnTo>
                  <a:lnTo>
                    <a:pt x="2091181" y="0"/>
                  </a:lnTo>
                  <a:lnTo>
                    <a:pt x="2789045" y="1209040"/>
                  </a:lnTo>
                  <a:lnTo>
                    <a:pt x="2258439" y="2126360"/>
                  </a:lnTo>
                  <a:close/>
                </a:path>
              </a:pathLst>
            </a:custGeom>
            <a:solidFill>
              <a:srgbClr val="86C7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55161" y="5797035"/>
              <a:ext cx="4182745" cy="4490085"/>
            </a:xfrm>
            <a:custGeom>
              <a:avLst/>
              <a:gdLst/>
              <a:ahLst/>
              <a:cxnLst/>
              <a:rect l="l" t="t" r="r" b="b"/>
              <a:pathLst>
                <a:path w="4182744" h="4490084">
                  <a:moveTo>
                    <a:pt x="3653913" y="4489963"/>
                  </a:moveTo>
                  <a:lnTo>
                    <a:pt x="1924808" y="4489963"/>
                  </a:lnTo>
                  <a:lnTo>
                    <a:pt x="955275" y="2810001"/>
                  </a:lnTo>
                  <a:lnTo>
                    <a:pt x="0" y="1157096"/>
                  </a:lnTo>
                  <a:lnTo>
                    <a:pt x="669541" y="0"/>
                  </a:lnTo>
                  <a:lnTo>
                    <a:pt x="2119881" y="0"/>
                  </a:lnTo>
                  <a:lnTo>
                    <a:pt x="2547744" y="739520"/>
                  </a:lnTo>
                  <a:lnTo>
                    <a:pt x="2548145" y="739520"/>
                  </a:lnTo>
                  <a:lnTo>
                    <a:pt x="3486400" y="2363595"/>
                  </a:lnTo>
                  <a:lnTo>
                    <a:pt x="3487416" y="2363595"/>
                  </a:lnTo>
                  <a:lnTo>
                    <a:pt x="3744210" y="2809874"/>
                  </a:lnTo>
                  <a:lnTo>
                    <a:pt x="3743956" y="2810001"/>
                  </a:lnTo>
                  <a:lnTo>
                    <a:pt x="4182613" y="3572636"/>
                  </a:lnTo>
                  <a:lnTo>
                    <a:pt x="3653913" y="4489963"/>
                  </a:lnTo>
                  <a:close/>
                </a:path>
                <a:path w="4182744" h="4490084">
                  <a:moveTo>
                    <a:pt x="2548145" y="739520"/>
                  </a:moveTo>
                  <a:lnTo>
                    <a:pt x="2547744" y="739520"/>
                  </a:lnTo>
                  <a:lnTo>
                    <a:pt x="2547998" y="739266"/>
                  </a:lnTo>
                  <a:lnTo>
                    <a:pt x="2548145" y="739520"/>
                  </a:lnTo>
                  <a:close/>
                </a:path>
              </a:pathLst>
            </a:custGeom>
            <a:solidFill>
              <a:srgbClr val="A066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544457" y="5797035"/>
              <a:ext cx="2743835" cy="4490085"/>
            </a:xfrm>
            <a:custGeom>
              <a:avLst/>
              <a:gdLst/>
              <a:ahLst/>
              <a:cxnLst/>
              <a:rect l="l" t="t" r="r" b="b"/>
              <a:pathLst>
                <a:path w="2743834" h="4490084">
                  <a:moveTo>
                    <a:pt x="2743542" y="4489956"/>
                  </a:moveTo>
                  <a:lnTo>
                    <a:pt x="1924045" y="4489956"/>
                  </a:lnTo>
                  <a:lnTo>
                    <a:pt x="1393190" y="3572636"/>
                  </a:lnTo>
                  <a:lnTo>
                    <a:pt x="1395350" y="3569079"/>
                  </a:lnTo>
                  <a:lnTo>
                    <a:pt x="698373" y="2363595"/>
                  </a:lnTo>
                  <a:lnTo>
                    <a:pt x="697992" y="2363595"/>
                  </a:lnTo>
                  <a:lnTo>
                    <a:pt x="0" y="1157096"/>
                  </a:lnTo>
                  <a:lnTo>
                    <a:pt x="669417" y="0"/>
                  </a:lnTo>
                  <a:lnTo>
                    <a:pt x="2119757" y="0"/>
                  </a:lnTo>
                  <a:lnTo>
                    <a:pt x="2513964" y="681354"/>
                  </a:lnTo>
                  <a:lnTo>
                    <a:pt x="2517784" y="681354"/>
                  </a:lnTo>
                  <a:lnTo>
                    <a:pt x="2743551" y="1073022"/>
                  </a:lnTo>
                  <a:lnTo>
                    <a:pt x="2743542" y="4489956"/>
                  </a:lnTo>
                  <a:close/>
                </a:path>
                <a:path w="2743834" h="4490084">
                  <a:moveTo>
                    <a:pt x="2517784" y="681354"/>
                  </a:moveTo>
                  <a:lnTo>
                    <a:pt x="2513964" y="681354"/>
                  </a:lnTo>
                  <a:lnTo>
                    <a:pt x="2516759" y="679577"/>
                  </a:lnTo>
                  <a:lnTo>
                    <a:pt x="2517784" y="6813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728742" y="3392292"/>
              <a:ext cx="2789555" cy="2415540"/>
            </a:xfrm>
            <a:custGeom>
              <a:avLst/>
              <a:gdLst/>
              <a:ahLst/>
              <a:cxnLst/>
              <a:rect l="l" t="t" r="r" b="b"/>
              <a:pathLst>
                <a:path w="2789555" h="2415540">
                  <a:moveTo>
                    <a:pt x="2091309" y="2415539"/>
                  </a:moveTo>
                  <a:lnTo>
                    <a:pt x="697992" y="2415539"/>
                  </a:lnTo>
                  <a:lnTo>
                    <a:pt x="0" y="1209039"/>
                  </a:lnTo>
                  <a:lnTo>
                    <a:pt x="697992" y="0"/>
                  </a:lnTo>
                  <a:lnTo>
                    <a:pt x="2091309" y="0"/>
                  </a:lnTo>
                  <a:lnTo>
                    <a:pt x="2789173" y="1209039"/>
                  </a:lnTo>
                  <a:lnTo>
                    <a:pt x="2091309" y="2415539"/>
                  </a:lnTo>
                  <a:close/>
                </a:path>
              </a:pathLst>
            </a:custGeom>
            <a:solidFill>
              <a:srgbClr val="86C7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122059" y="1028646"/>
              <a:ext cx="4166235" cy="4779645"/>
            </a:xfrm>
            <a:custGeom>
              <a:avLst/>
              <a:gdLst/>
              <a:ahLst/>
              <a:cxnLst/>
              <a:rect l="l" t="t" r="r" b="b"/>
              <a:pathLst>
                <a:path w="4166234" h="4779645">
                  <a:moveTo>
                    <a:pt x="3487165" y="4779057"/>
                  </a:moveTo>
                  <a:lnTo>
                    <a:pt x="2091181" y="4779057"/>
                  </a:lnTo>
                  <a:lnTo>
                    <a:pt x="0" y="1157146"/>
                  </a:lnTo>
                  <a:lnTo>
                    <a:pt x="669417" y="0"/>
                  </a:lnTo>
                  <a:lnTo>
                    <a:pt x="2119756" y="0"/>
                  </a:lnTo>
                  <a:lnTo>
                    <a:pt x="2547491" y="739570"/>
                  </a:lnTo>
                  <a:lnTo>
                    <a:pt x="2547892" y="739570"/>
                  </a:lnTo>
                  <a:lnTo>
                    <a:pt x="3486275" y="2363518"/>
                  </a:lnTo>
                  <a:lnTo>
                    <a:pt x="3487290" y="2363518"/>
                  </a:lnTo>
                  <a:lnTo>
                    <a:pt x="3744157" y="2809923"/>
                  </a:lnTo>
                  <a:lnTo>
                    <a:pt x="3743831" y="2809923"/>
                  </a:lnTo>
                  <a:lnTo>
                    <a:pt x="4165940" y="3543983"/>
                  </a:lnTo>
                  <a:lnTo>
                    <a:pt x="4165940" y="3601133"/>
                  </a:lnTo>
                  <a:lnTo>
                    <a:pt x="3487165" y="4779057"/>
                  </a:lnTo>
                  <a:close/>
                </a:path>
                <a:path w="4166234" h="4779645">
                  <a:moveTo>
                    <a:pt x="2547892" y="739570"/>
                  </a:moveTo>
                  <a:lnTo>
                    <a:pt x="2547491" y="739570"/>
                  </a:lnTo>
                  <a:lnTo>
                    <a:pt x="2547745" y="739316"/>
                  </a:lnTo>
                  <a:lnTo>
                    <a:pt x="2547892" y="739570"/>
                  </a:lnTo>
                  <a:close/>
                </a:path>
              </a:pathLst>
            </a:custGeom>
            <a:solidFill>
              <a:srgbClr val="A066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911232" y="1028646"/>
              <a:ext cx="1377315" cy="3537585"/>
            </a:xfrm>
            <a:custGeom>
              <a:avLst/>
              <a:gdLst/>
              <a:ahLst/>
              <a:cxnLst/>
              <a:rect l="l" t="t" r="r" b="b"/>
              <a:pathLst>
                <a:path w="1377315" h="3537585">
                  <a:moveTo>
                    <a:pt x="1376767" y="3536998"/>
                  </a:moveTo>
                  <a:lnTo>
                    <a:pt x="698373" y="2363645"/>
                  </a:lnTo>
                  <a:lnTo>
                    <a:pt x="697992" y="2363645"/>
                  </a:lnTo>
                  <a:lnTo>
                    <a:pt x="0" y="1157146"/>
                  </a:lnTo>
                  <a:lnTo>
                    <a:pt x="669417" y="24"/>
                  </a:lnTo>
                  <a:lnTo>
                    <a:pt x="1376806" y="0"/>
                  </a:lnTo>
                  <a:lnTo>
                    <a:pt x="1376767" y="35369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832340" y="3169268"/>
            <a:ext cx="6952615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200" spc="-944" dirty="0">
                <a:solidFill>
                  <a:srgbClr val="FFFFFF"/>
                </a:solidFill>
              </a:rPr>
              <a:t>THANK</a:t>
            </a:r>
            <a:r>
              <a:rPr sz="9200" spc="-855" dirty="0">
                <a:solidFill>
                  <a:srgbClr val="FFFFFF"/>
                </a:solidFill>
              </a:rPr>
              <a:t> </a:t>
            </a:r>
            <a:r>
              <a:rPr sz="9200" spc="-894" dirty="0">
                <a:solidFill>
                  <a:srgbClr val="FFFFFF"/>
                </a:solidFill>
              </a:rPr>
              <a:t>YOU</a:t>
            </a:r>
            <a:endParaRPr sz="9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1243</Words>
  <Application>Microsoft Office PowerPoint</Application>
  <PresentationFormat>Custom</PresentationFormat>
  <Paragraphs>137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Black</vt:lpstr>
      <vt:lpstr>Roboto Lt</vt:lpstr>
      <vt:lpstr>Times New Roman</vt:lpstr>
      <vt:lpstr>Trebuchet MS</vt:lpstr>
      <vt:lpstr>Verdana</vt:lpstr>
      <vt:lpstr>Office Theme</vt:lpstr>
      <vt:lpstr>SRKR ENGINEERING COLLEGE</vt:lpstr>
      <vt:lpstr>Introduction:</vt:lpstr>
      <vt:lpstr>Problems Identified in the Community:</vt:lpstr>
      <vt:lpstr>Abstract:</vt:lpstr>
      <vt:lpstr>Purpose of the Survey:</vt:lpstr>
      <vt:lpstr>Survey Activity Snapshot</vt:lpstr>
      <vt:lpstr>Weekly Work Schedule</vt:lpstr>
      <vt:lpstr>TECHNOLOGICAL SOLUTION</vt:lpstr>
      <vt:lpstr>PowerPoint Presentation</vt:lpstr>
      <vt:lpstr>PowerPoint Presentation</vt:lpstr>
      <vt:lpstr>PowerPoint Presentation</vt:lpstr>
      <vt:lpstr>Awareness &amp; Campaign Activities</vt:lpstr>
      <vt:lpstr>Awareness Campaign Activity</vt:lpstr>
      <vt:lpstr>Community Insights (Before vs After)</vt:lpstr>
      <vt:lpstr>Sustainable Development Goals Achieved:</vt:lpstr>
      <vt:lpstr>Recommendations for Long-Term Improvement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 ISSUE REPORTING PLATFORM</dc:title>
  <dc:creator>Sri Lakshmi</dc:creator>
  <cp:keywords>DAG4T3b3qh8,BAF3hW7LEZQ,0</cp:keywords>
  <cp:lastModifiedBy>RAMAKRISHNA BARNIKANI</cp:lastModifiedBy>
  <cp:revision>8</cp:revision>
  <dcterms:created xsi:type="dcterms:W3CDTF">2025-11-11T02:23:15Z</dcterms:created>
  <dcterms:modified xsi:type="dcterms:W3CDTF">2025-11-11T03:16:19Z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2025-11-10T00:00:00Z</vt:filetime>
  </property>
  <property fmtid="{D5CDD505-2E9C-101B-9397-08002B2CF9AE}" pid="3" name="Creator">
    <vt:lpwstr>Canva</vt:lpwstr>
  </property>
  <property fmtid="{D5CDD505-2E9C-101B-9397-08002B2CF9AE}" pid="4" name="LastSaved">
    <vt:filetime>2025-11-11T00:00:00Z</vt:filetime>
  </property>
  <property fmtid="{D5CDD505-2E9C-101B-9397-08002B2CF9AE}" pid="5" name="Producer">
    <vt:lpwstr>Canva</vt:lpwstr>
  </property>
</Properties>
</file>